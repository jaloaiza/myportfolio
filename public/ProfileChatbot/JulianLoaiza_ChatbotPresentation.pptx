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x="18288000" cy="10287000"/>
  <p:notesSz cx="6858000" cy="9144000"/>
  <p:embeddedFontLst>
    <p:embeddedFont>
      <p:font typeface="Public Sans Bold" charset="1" panose="00000000000000000000"/>
      <p:regular r:id="rId28"/>
    </p:embeddedFont>
    <p:embeddedFont>
      <p:font typeface="Playfair Display" charset="1" panose="00000500000000000000"/>
      <p:regular r:id="rId29"/>
    </p:embeddedFont>
    <p:embeddedFont>
      <p:font typeface="Public Sans" charset="1" panose="00000000000000000000"/>
      <p:regular r:id="rId30"/>
    </p:embeddedFont>
    <p:embeddedFont>
      <p:font typeface="Open Sauce" charset="1" panose="00000500000000000000"/>
      <p:regular r:id="rId31"/>
    </p:embeddedFont>
    <p:embeddedFont>
      <p:font typeface="Open Sauce Bold" charset="1" panose="00000800000000000000"/>
      <p:regular r:id="rId32"/>
    </p:embeddedFont>
    <p:embeddedFont>
      <p:font typeface="Playfair Display Italics" charset="1" panose="00000500000000000000"/>
      <p:regular r:id="rId3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 Id="rId4" Target="../media/image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slide1.xml><?xml version="1.0" encoding="utf-8"?>
<p:sld xmlns:p="http://schemas.openxmlformats.org/presentationml/2006/main" xmlns:a="http://schemas.openxmlformats.org/drawingml/2006/main">
  <p:cSld>
    <p:bg>
      <p:bgPr>
        <a:solidFill>
          <a:srgbClr val="EFEEE7"/>
        </a:solidFill>
      </p:bgPr>
    </p:bg>
    <p:spTree>
      <p:nvGrpSpPr>
        <p:cNvPr id="1" name=""/>
        <p:cNvGrpSpPr/>
        <p:nvPr/>
      </p:nvGrpSpPr>
      <p:grpSpPr>
        <a:xfrm>
          <a:off x="0" y="0"/>
          <a:ext cx="0" cy="0"/>
          <a:chOff x="0" y="0"/>
          <a:chExt cx="0" cy="0"/>
        </a:xfrm>
      </p:grpSpPr>
      <p:sp>
        <p:nvSpPr>
          <p:cNvPr name="AutoShape 2" id="2"/>
          <p:cNvSpPr/>
          <p:nvPr/>
        </p:nvSpPr>
        <p:spPr>
          <a:xfrm flipV="true">
            <a:off x="1028706" y="4514765"/>
            <a:ext cx="16230594" cy="38509"/>
          </a:xfrm>
          <a:prstGeom prst="line">
            <a:avLst/>
          </a:prstGeom>
          <a:ln cap="flat" w="9525">
            <a:solidFill>
              <a:srgbClr val="2B2C30"/>
            </a:solidFill>
            <a:prstDash val="solid"/>
            <a:headEnd type="none" len="sm" w="sm"/>
            <a:tailEnd type="none" len="sm" w="sm"/>
          </a:ln>
        </p:spPr>
      </p:sp>
      <p:sp>
        <p:nvSpPr>
          <p:cNvPr name="TextBox 3" id="3"/>
          <p:cNvSpPr txBox="true"/>
          <p:nvPr/>
        </p:nvSpPr>
        <p:spPr>
          <a:xfrm rot="0">
            <a:off x="1006882" y="4728792"/>
            <a:ext cx="16230600" cy="651099"/>
          </a:xfrm>
          <a:prstGeom prst="rect">
            <a:avLst/>
          </a:prstGeom>
        </p:spPr>
        <p:txBody>
          <a:bodyPr anchor="t" rtlCol="false" tIns="0" lIns="0" bIns="0" rIns="0">
            <a:spAutoFit/>
          </a:bodyPr>
          <a:lstStyle/>
          <a:p>
            <a:pPr algn="l">
              <a:lnSpc>
                <a:spcPts val="5200"/>
              </a:lnSpc>
              <a:spcBef>
                <a:spcPct val="0"/>
              </a:spcBef>
            </a:pPr>
            <a:r>
              <a:rPr lang="en-US" b="true" sz="3714" spc="843">
                <a:solidFill>
                  <a:srgbClr val="2B2C30"/>
                </a:solidFill>
                <a:latin typeface="Public Sans Bold"/>
                <a:ea typeface="Public Sans Bold"/>
                <a:cs typeface="Public Sans Bold"/>
                <a:sym typeface="Public Sans Bold"/>
              </a:rPr>
              <a:t>FOR ACCESSIBILITY IN VIDEO GAMES</a:t>
            </a:r>
          </a:p>
        </p:txBody>
      </p:sp>
      <p:sp>
        <p:nvSpPr>
          <p:cNvPr name="TextBox 4" id="4"/>
          <p:cNvSpPr txBox="true"/>
          <p:nvPr/>
        </p:nvSpPr>
        <p:spPr>
          <a:xfrm rot="0">
            <a:off x="850974" y="2332416"/>
            <a:ext cx="16408332" cy="2084083"/>
          </a:xfrm>
          <a:prstGeom prst="rect">
            <a:avLst/>
          </a:prstGeom>
        </p:spPr>
        <p:txBody>
          <a:bodyPr anchor="t" rtlCol="false" tIns="0" lIns="0" bIns="0" rIns="0">
            <a:spAutoFit/>
          </a:bodyPr>
          <a:lstStyle/>
          <a:p>
            <a:pPr algn="l">
              <a:lnSpc>
                <a:spcPts val="15250"/>
              </a:lnSpc>
            </a:pPr>
            <a:r>
              <a:rPr lang="en-US" sz="16758" spc="83">
                <a:solidFill>
                  <a:srgbClr val="2B2C30"/>
                </a:solidFill>
                <a:latin typeface="Playfair Display"/>
                <a:ea typeface="Playfair Display"/>
                <a:cs typeface="Playfair Display"/>
                <a:sym typeface="Playfair Display"/>
              </a:rPr>
              <a:t>Building Profiles</a:t>
            </a:r>
          </a:p>
        </p:txBody>
      </p:sp>
      <p:sp>
        <p:nvSpPr>
          <p:cNvPr name="TextBox 5" id="5"/>
          <p:cNvSpPr txBox="true"/>
          <p:nvPr/>
        </p:nvSpPr>
        <p:spPr>
          <a:xfrm rot="0">
            <a:off x="1016407" y="8041005"/>
            <a:ext cx="7862435" cy="1303020"/>
          </a:xfrm>
          <a:prstGeom prst="rect">
            <a:avLst/>
          </a:prstGeom>
        </p:spPr>
        <p:txBody>
          <a:bodyPr anchor="t" rtlCol="false" tIns="0" lIns="0" bIns="0" rIns="0">
            <a:spAutoFit/>
          </a:bodyPr>
          <a:lstStyle/>
          <a:p>
            <a:pPr algn="l">
              <a:lnSpc>
                <a:spcPts val="3450"/>
              </a:lnSpc>
            </a:pPr>
            <a:r>
              <a:rPr lang="en-US" sz="2300">
                <a:solidFill>
                  <a:srgbClr val="2B2C30"/>
                </a:solidFill>
                <a:latin typeface="Public Sans"/>
                <a:ea typeface="Public Sans"/>
                <a:cs typeface="Public Sans"/>
                <a:sym typeface="Public Sans"/>
              </a:rPr>
              <a:t>Julian Loaiza</a:t>
            </a:r>
          </a:p>
          <a:p>
            <a:pPr algn="l">
              <a:lnSpc>
                <a:spcPts val="3450"/>
              </a:lnSpc>
            </a:pPr>
            <a:r>
              <a:rPr lang="en-US" sz="2300">
                <a:solidFill>
                  <a:srgbClr val="2B2C30"/>
                </a:solidFill>
                <a:latin typeface="Public Sans"/>
                <a:ea typeface="Public Sans"/>
                <a:cs typeface="Public Sans"/>
                <a:sym typeface="Public Sans"/>
              </a:rPr>
              <a:t>CS-394</a:t>
            </a:r>
          </a:p>
          <a:p>
            <a:pPr algn="l">
              <a:lnSpc>
                <a:spcPts val="3450"/>
              </a:lnSpc>
            </a:pPr>
            <a:r>
              <a:rPr lang="en-US" sz="2300">
                <a:solidFill>
                  <a:srgbClr val="2B2C30"/>
                </a:solidFill>
                <a:latin typeface="Public Sans"/>
                <a:ea typeface="Public Sans"/>
                <a:cs typeface="Public Sans"/>
                <a:sym typeface="Public Sans"/>
              </a:rPr>
              <a:t>21 April</a:t>
            </a:r>
            <a:r>
              <a:rPr lang="en-US" sz="2300">
                <a:solidFill>
                  <a:srgbClr val="2B2C30"/>
                </a:solidFill>
                <a:latin typeface="Public Sans"/>
                <a:ea typeface="Public Sans"/>
                <a:cs typeface="Public Sans"/>
                <a:sym typeface="Public Sans"/>
              </a:rPr>
              <a:t>, 2026</a:t>
            </a:r>
          </a:p>
        </p:txBody>
      </p:sp>
      <p:sp>
        <p:nvSpPr>
          <p:cNvPr name="TextBox 6" id="6"/>
          <p:cNvSpPr txBox="true"/>
          <p:nvPr/>
        </p:nvSpPr>
        <p:spPr>
          <a:xfrm rot="0">
            <a:off x="12698616" y="8984615"/>
            <a:ext cx="4560684" cy="273685"/>
          </a:xfrm>
          <a:prstGeom prst="rect">
            <a:avLst/>
          </a:prstGeom>
        </p:spPr>
        <p:txBody>
          <a:bodyPr anchor="t" rtlCol="false" tIns="0" lIns="0" bIns="0" rIns="0">
            <a:spAutoFit/>
          </a:bodyPr>
          <a:lstStyle/>
          <a:p>
            <a:pPr algn="r">
              <a:lnSpc>
                <a:spcPts val="2239"/>
              </a:lnSpc>
            </a:pPr>
            <a:r>
              <a:rPr lang="en-US" sz="1599">
                <a:solidFill>
                  <a:srgbClr val="331B0D"/>
                </a:solidFill>
                <a:latin typeface="Open Sauce"/>
                <a:ea typeface="Open Sauce"/>
                <a:cs typeface="Open Sauce"/>
                <a:sym typeface="Open Sauce"/>
              </a:rPr>
              <a:t>1</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FEEE7"/>
        </a:solidFill>
      </p:bgPr>
    </p:bg>
    <p:spTree>
      <p:nvGrpSpPr>
        <p:cNvPr id="1" name=""/>
        <p:cNvGrpSpPr/>
        <p:nvPr/>
      </p:nvGrpSpPr>
      <p:grpSpPr>
        <a:xfrm>
          <a:off x="0" y="0"/>
          <a:ext cx="0" cy="0"/>
          <a:chOff x="0" y="0"/>
          <a:chExt cx="0" cy="0"/>
        </a:xfrm>
      </p:grpSpPr>
      <p:sp>
        <p:nvSpPr>
          <p:cNvPr name="AutoShape 2" id="2"/>
          <p:cNvSpPr/>
          <p:nvPr/>
        </p:nvSpPr>
        <p:spPr>
          <a:xfrm flipV="true">
            <a:off x="1028695" y="1760761"/>
            <a:ext cx="16230594" cy="38509"/>
          </a:xfrm>
          <a:prstGeom prst="line">
            <a:avLst/>
          </a:prstGeom>
          <a:ln cap="flat" w="9525">
            <a:solidFill>
              <a:srgbClr val="2B2C30"/>
            </a:solidFill>
            <a:prstDash val="solid"/>
            <a:headEnd type="none" len="sm" w="sm"/>
            <a:tailEnd type="none" len="sm" w="sm"/>
          </a:ln>
        </p:spPr>
      </p:sp>
      <p:sp>
        <p:nvSpPr>
          <p:cNvPr name="Freeform 3" id="3"/>
          <p:cNvSpPr/>
          <p:nvPr/>
        </p:nvSpPr>
        <p:spPr>
          <a:xfrm flipH="false" flipV="false" rot="0">
            <a:off x="8622000" y="2234895"/>
            <a:ext cx="6356958" cy="6356958"/>
          </a:xfrm>
          <a:custGeom>
            <a:avLst/>
            <a:gdLst/>
            <a:ahLst/>
            <a:cxnLst/>
            <a:rect r="r" b="b" t="t" l="l"/>
            <a:pathLst>
              <a:path h="6356958" w="6356958">
                <a:moveTo>
                  <a:pt x="0" y="0"/>
                </a:moveTo>
                <a:lnTo>
                  <a:pt x="6356958" y="0"/>
                </a:lnTo>
                <a:lnTo>
                  <a:pt x="6356958" y="6356958"/>
                </a:lnTo>
                <a:lnTo>
                  <a:pt x="0" y="6356958"/>
                </a:lnTo>
                <a:lnTo>
                  <a:pt x="0" y="0"/>
                </a:lnTo>
                <a:close/>
              </a:path>
            </a:pathLst>
          </a:custGeom>
          <a:blipFill>
            <a:blip r:embed="rId2"/>
            <a:stretch>
              <a:fillRect l="0" t="0" r="0" b="0"/>
            </a:stretch>
          </a:blipFill>
        </p:spPr>
      </p:sp>
      <p:sp>
        <p:nvSpPr>
          <p:cNvPr name="TextBox 4" id="4"/>
          <p:cNvSpPr txBox="true"/>
          <p:nvPr/>
        </p:nvSpPr>
        <p:spPr>
          <a:xfrm rot="0">
            <a:off x="1006871" y="942975"/>
            <a:ext cx="16230600" cy="651099"/>
          </a:xfrm>
          <a:prstGeom prst="rect">
            <a:avLst/>
          </a:prstGeom>
        </p:spPr>
        <p:txBody>
          <a:bodyPr anchor="t" rtlCol="false" tIns="0" lIns="0" bIns="0" rIns="0">
            <a:spAutoFit/>
          </a:bodyPr>
          <a:lstStyle/>
          <a:p>
            <a:pPr algn="l">
              <a:lnSpc>
                <a:spcPts val="5200"/>
              </a:lnSpc>
              <a:spcBef>
                <a:spcPct val="0"/>
              </a:spcBef>
            </a:pPr>
            <a:r>
              <a:rPr lang="en-US" b="true" sz="3714" spc="843">
                <a:solidFill>
                  <a:srgbClr val="2B2C30"/>
                </a:solidFill>
                <a:latin typeface="Public Sans Bold"/>
                <a:ea typeface="Public Sans Bold"/>
                <a:cs typeface="Public Sans Bold"/>
                <a:sym typeface="Public Sans Bold"/>
              </a:rPr>
              <a:t>ABOUT ME</a:t>
            </a:r>
          </a:p>
        </p:txBody>
      </p:sp>
      <p:sp>
        <p:nvSpPr>
          <p:cNvPr name="TextBox 5" id="5"/>
          <p:cNvSpPr txBox="true"/>
          <p:nvPr/>
        </p:nvSpPr>
        <p:spPr>
          <a:xfrm rot="0">
            <a:off x="1028689" y="2122290"/>
            <a:ext cx="7877184" cy="1266698"/>
          </a:xfrm>
          <a:prstGeom prst="rect">
            <a:avLst/>
          </a:prstGeom>
        </p:spPr>
        <p:txBody>
          <a:bodyPr anchor="t" rtlCol="false" tIns="0" lIns="0" bIns="0" rIns="0">
            <a:spAutoFit/>
          </a:bodyPr>
          <a:lstStyle/>
          <a:p>
            <a:pPr algn="l">
              <a:lnSpc>
                <a:spcPts val="5235"/>
              </a:lnSpc>
            </a:pPr>
          </a:p>
          <a:p>
            <a:pPr algn="l" marL="604519" indent="-302260" lvl="1">
              <a:lnSpc>
                <a:spcPts val="5235"/>
              </a:lnSpc>
              <a:buFont typeface="Arial"/>
              <a:buChar char="•"/>
            </a:pPr>
            <a:r>
              <a:rPr lang="en-US" sz="2799">
                <a:solidFill>
                  <a:srgbClr val="2B2C30"/>
                </a:solidFill>
                <a:latin typeface="Public Sans"/>
                <a:ea typeface="Public Sans"/>
                <a:cs typeface="Public Sans"/>
                <a:sym typeface="Public Sans"/>
              </a:rPr>
              <a:t>B.S. in Computer Science and Game Design</a:t>
            </a:r>
          </a:p>
        </p:txBody>
      </p:sp>
      <p:sp>
        <p:nvSpPr>
          <p:cNvPr name="TextBox 6" id="6"/>
          <p:cNvSpPr txBox="true"/>
          <p:nvPr/>
        </p:nvSpPr>
        <p:spPr>
          <a:xfrm rot="0">
            <a:off x="1028700" y="4023360"/>
            <a:ext cx="7877184" cy="1266698"/>
          </a:xfrm>
          <a:prstGeom prst="rect">
            <a:avLst/>
          </a:prstGeom>
        </p:spPr>
        <p:txBody>
          <a:bodyPr anchor="t" rtlCol="false" tIns="0" lIns="0" bIns="0" rIns="0">
            <a:spAutoFit/>
          </a:bodyPr>
          <a:lstStyle/>
          <a:p>
            <a:pPr algn="l">
              <a:lnSpc>
                <a:spcPts val="5235"/>
              </a:lnSpc>
            </a:pPr>
          </a:p>
          <a:p>
            <a:pPr algn="l" marL="604519" indent="-302260" lvl="1">
              <a:lnSpc>
                <a:spcPts val="5235"/>
              </a:lnSpc>
              <a:buFont typeface="Arial"/>
              <a:buChar char="•"/>
            </a:pPr>
            <a:r>
              <a:rPr lang="en-US" sz="2799">
                <a:solidFill>
                  <a:srgbClr val="2B2C30"/>
                </a:solidFill>
                <a:latin typeface="Public Sans"/>
                <a:ea typeface="Public Sans"/>
                <a:cs typeface="Public Sans"/>
                <a:sym typeface="Public Sans"/>
              </a:rPr>
              <a:t>Producer &amp; UI/UX &amp; Gameplay Programmer</a:t>
            </a:r>
          </a:p>
        </p:txBody>
      </p:sp>
      <p:sp>
        <p:nvSpPr>
          <p:cNvPr name="TextBox 7" id="7"/>
          <p:cNvSpPr txBox="true"/>
          <p:nvPr/>
        </p:nvSpPr>
        <p:spPr>
          <a:xfrm rot="0">
            <a:off x="12698616" y="8984615"/>
            <a:ext cx="4560684" cy="273685"/>
          </a:xfrm>
          <a:prstGeom prst="rect">
            <a:avLst/>
          </a:prstGeom>
        </p:spPr>
        <p:txBody>
          <a:bodyPr anchor="t" rtlCol="false" tIns="0" lIns="0" bIns="0" rIns="0">
            <a:spAutoFit/>
          </a:bodyPr>
          <a:lstStyle/>
          <a:p>
            <a:pPr algn="r">
              <a:lnSpc>
                <a:spcPts val="2239"/>
              </a:lnSpc>
            </a:pPr>
            <a:r>
              <a:rPr lang="en-US" sz="1599">
                <a:solidFill>
                  <a:srgbClr val="331B0D"/>
                </a:solidFill>
                <a:latin typeface="Open Sauce"/>
                <a:ea typeface="Open Sauce"/>
                <a:cs typeface="Open Sauce"/>
                <a:sym typeface="Open Sauce"/>
              </a:rPr>
              <a:t>2</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AF7F0"/>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3860684"/>
            <a:ext cx="1050505" cy="1263766"/>
          </a:xfrm>
          <a:custGeom>
            <a:avLst/>
            <a:gdLst/>
            <a:ahLst/>
            <a:cxnLst/>
            <a:rect r="r" b="b" t="t" l="l"/>
            <a:pathLst>
              <a:path h="1263766" w="1050505">
                <a:moveTo>
                  <a:pt x="0" y="0"/>
                </a:moveTo>
                <a:lnTo>
                  <a:pt x="1050505" y="0"/>
                </a:lnTo>
                <a:lnTo>
                  <a:pt x="1050505" y="1263766"/>
                </a:lnTo>
                <a:lnTo>
                  <a:pt x="0" y="1263766"/>
                </a:lnTo>
                <a:lnTo>
                  <a:pt x="0" y="0"/>
                </a:lnTo>
                <a:close/>
              </a:path>
            </a:pathLst>
          </a:custGeom>
          <a:blipFill>
            <a:blip r:embed="rId2"/>
            <a:stretch>
              <a:fillRect l="0" t="0" r="0" b="0"/>
            </a:stretch>
          </a:blipFill>
        </p:spPr>
      </p:sp>
      <p:sp>
        <p:nvSpPr>
          <p:cNvPr name="Freeform 3" id="3"/>
          <p:cNvSpPr/>
          <p:nvPr/>
        </p:nvSpPr>
        <p:spPr>
          <a:xfrm flipH="false" flipV="false" rot="0">
            <a:off x="6988914" y="3723853"/>
            <a:ext cx="1483618" cy="1537428"/>
          </a:xfrm>
          <a:custGeom>
            <a:avLst/>
            <a:gdLst/>
            <a:ahLst/>
            <a:cxnLst/>
            <a:rect r="r" b="b" t="t" l="l"/>
            <a:pathLst>
              <a:path h="1537428" w="1483618">
                <a:moveTo>
                  <a:pt x="0" y="0"/>
                </a:moveTo>
                <a:lnTo>
                  <a:pt x="1483618" y="0"/>
                </a:lnTo>
                <a:lnTo>
                  <a:pt x="1483618" y="1537428"/>
                </a:lnTo>
                <a:lnTo>
                  <a:pt x="0" y="1537428"/>
                </a:lnTo>
                <a:lnTo>
                  <a:pt x="0" y="0"/>
                </a:lnTo>
                <a:close/>
              </a:path>
            </a:pathLst>
          </a:custGeom>
          <a:blipFill>
            <a:blip r:embed="rId3"/>
            <a:stretch>
              <a:fillRect l="0" t="0" r="0" b="0"/>
            </a:stretch>
          </a:blipFill>
        </p:spPr>
      </p:sp>
      <p:sp>
        <p:nvSpPr>
          <p:cNvPr name="Freeform 4" id="4"/>
          <p:cNvSpPr/>
          <p:nvPr/>
        </p:nvSpPr>
        <p:spPr>
          <a:xfrm flipH="false" flipV="false" rot="0">
            <a:off x="12949128" y="3365384"/>
            <a:ext cx="811369" cy="1759066"/>
          </a:xfrm>
          <a:custGeom>
            <a:avLst/>
            <a:gdLst/>
            <a:ahLst/>
            <a:cxnLst/>
            <a:rect r="r" b="b" t="t" l="l"/>
            <a:pathLst>
              <a:path h="1759066" w="811369">
                <a:moveTo>
                  <a:pt x="0" y="0"/>
                </a:moveTo>
                <a:lnTo>
                  <a:pt x="811369" y="0"/>
                </a:lnTo>
                <a:lnTo>
                  <a:pt x="811369" y="1759066"/>
                </a:lnTo>
                <a:lnTo>
                  <a:pt x="0" y="1759066"/>
                </a:lnTo>
                <a:lnTo>
                  <a:pt x="0" y="0"/>
                </a:lnTo>
                <a:close/>
              </a:path>
            </a:pathLst>
          </a:custGeom>
          <a:blipFill>
            <a:blip r:embed="rId4"/>
            <a:stretch>
              <a:fillRect l="0" t="0" r="0" b="0"/>
            </a:stretch>
          </a:blipFill>
        </p:spPr>
      </p:sp>
      <p:sp>
        <p:nvSpPr>
          <p:cNvPr name="TextBox 5" id="5"/>
          <p:cNvSpPr txBox="true"/>
          <p:nvPr/>
        </p:nvSpPr>
        <p:spPr>
          <a:xfrm rot="0">
            <a:off x="1028700" y="1989777"/>
            <a:ext cx="8115300" cy="636270"/>
          </a:xfrm>
          <a:prstGeom prst="rect">
            <a:avLst/>
          </a:prstGeom>
        </p:spPr>
        <p:txBody>
          <a:bodyPr anchor="t" rtlCol="false" tIns="0" lIns="0" bIns="0" rIns="0">
            <a:spAutoFit/>
          </a:bodyPr>
          <a:lstStyle/>
          <a:p>
            <a:pPr algn="l">
              <a:lnSpc>
                <a:spcPts val="4800"/>
              </a:lnSpc>
            </a:pPr>
            <a:r>
              <a:rPr lang="en-US" sz="4800" spc="-288">
                <a:solidFill>
                  <a:srgbClr val="331B0D"/>
                </a:solidFill>
                <a:latin typeface="Open Sauce"/>
                <a:ea typeface="Open Sauce"/>
                <a:cs typeface="Open Sauce"/>
                <a:sym typeface="Open Sauce"/>
              </a:rPr>
              <a:t>Project Overview</a:t>
            </a:r>
          </a:p>
        </p:txBody>
      </p:sp>
      <p:sp>
        <p:nvSpPr>
          <p:cNvPr name="TextBox 6" id="6"/>
          <p:cNvSpPr txBox="true"/>
          <p:nvPr/>
        </p:nvSpPr>
        <p:spPr>
          <a:xfrm rot="0">
            <a:off x="1028700" y="5667375"/>
            <a:ext cx="2746871" cy="405765"/>
          </a:xfrm>
          <a:prstGeom prst="rect">
            <a:avLst/>
          </a:prstGeom>
        </p:spPr>
        <p:txBody>
          <a:bodyPr anchor="t" rtlCol="false" tIns="0" lIns="0" bIns="0" rIns="0">
            <a:spAutoFit/>
          </a:bodyPr>
          <a:lstStyle/>
          <a:p>
            <a:pPr algn="l">
              <a:lnSpc>
                <a:spcPts val="3359"/>
              </a:lnSpc>
              <a:spcBef>
                <a:spcPct val="0"/>
              </a:spcBef>
            </a:pPr>
            <a:r>
              <a:rPr lang="en-US" sz="2400">
                <a:solidFill>
                  <a:srgbClr val="8C7753"/>
                </a:solidFill>
                <a:latin typeface="Open Sauce"/>
                <a:ea typeface="Open Sauce"/>
                <a:cs typeface="Open Sauce"/>
                <a:sym typeface="Open Sauce"/>
              </a:rPr>
              <a:t>P</a:t>
            </a:r>
            <a:r>
              <a:rPr lang="en-US" sz="2400">
                <a:solidFill>
                  <a:srgbClr val="8C7753"/>
                </a:solidFill>
                <a:latin typeface="Open Sauce"/>
                <a:ea typeface="Open Sauce"/>
                <a:cs typeface="Open Sauce"/>
                <a:sym typeface="Open Sauce"/>
              </a:rPr>
              <a:t>roblem</a:t>
            </a:r>
          </a:p>
        </p:txBody>
      </p:sp>
      <p:sp>
        <p:nvSpPr>
          <p:cNvPr name="TextBox 7" id="7"/>
          <p:cNvSpPr txBox="true"/>
          <p:nvPr/>
        </p:nvSpPr>
        <p:spPr>
          <a:xfrm rot="0">
            <a:off x="1028700" y="6425565"/>
            <a:ext cx="4310172" cy="2223135"/>
          </a:xfrm>
          <a:prstGeom prst="rect">
            <a:avLst/>
          </a:prstGeom>
        </p:spPr>
        <p:txBody>
          <a:bodyPr anchor="t" rtlCol="false" tIns="0" lIns="0" bIns="0" rIns="0">
            <a:spAutoFit/>
          </a:bodyPr>
          <a:lstStyle/>
          <a:p>
            <a:pPr algn="l">
              <a:lnSpc>
                <a:spcPts val="2940"/>
              </a:lnSpc>
              <a:spcBef>
                <a:spcPct val="0"/>
              </a:spcBef>
            </a:pPr>
            <a:r>
              <a:rPr lang="en-US" sz="2100">
                <a:solidFill>
                  <a:srgbClr val="331B0D"/>
                </a:solidFill>
                <a:latin typeface="Open Sauce"/>
                <a:ea typeface="Open Sauce"/>
                <a:cs typeface="Open Sauce"/>
                <a:sym typeface="Open Sauce"/>
              </a:rPr>
              <a:t>I have a lot of friends who have accessibility issues. Such as coming from different cultures, dyslexia, or other various reasons. That may inhibit their ability to fully enjoy the product.</a:t>
            </a:r>
          </a:p>
        </p:txBody>
      </p:sp>
      <p:sp>
        <p:nvSpPr>
          <p:cNvPr name="TextBox 8" id="8"/>
          <p:cNvSpPr txBox="true"/>
          <p:nvPr/>
        </p:nvSpPr>
        <p:spPr>
          <a:xfrm rot="0">
            <a:off x="6988914" y="5667375"/>
            <a:ext cx="2746871" cy="405765"/>
          </a:xfrm>
          <a:prstGeom prst="rect">
            <a:avLst/>
          </a:prstGeom>
        </p:spPr>
        <p:txBody>
          <a:bodyPr anchor="t" rtlCol="false" tIns="0" lIns="0" bIns="0" rIns="0">
            <a:spAutoFit/>
          </a:bodyPr>
          <a:lstStyle/>
          <a:p>
            <a:pPr algn="l">
              <a:lnSpc>
                <a:spcPts val="3359"/>
              </a:lnSpc>
              <a:spcBef>
                <a:spcPct val="0"/>
              </a:spcBef>
            </a:pPr>
            <a:r>
              <a:rPr lang="en-US" sz="2400">
                <a:solidFill>
                  <a:srgbClr val="8C7753"/>
                </a:solidFill>
                <a:latin typeface="Open Sauce"/>
                <a:ea typeface="Open Sauce"/>
                <a:cs typeface="Open Sauce"/>
                <a:sym typeface="Open Sauce"/>
              </a:rPr>
              <a:t>Solution</a:t>
            </a:r>
          </a:p>
        </p:txBody>
      </p:sp>
      <p:sp>
        <p:nvSpPr>
          <p:cNvPr name="TextBox 9" id="9"/>
          <p:cNvSpPr txBox="true"/>
          <p:nvPr/>
        </p:nvSpPr>
        <p:spPr>
          <a:xfrm rot="0">
            <a:off x="6988914" y="6425565"/>
            <a:ext cx="4310172" cy="1480185"/>
          </a:xfrm>
          <a:prstGeom prst="rect">
            <a:avLst/>
          </a:prstGeom>
        </p:spPr>
        <p:txBody>
          <a:bodyPr anchor="t" rtlCol="false" tIns="0" lIns="0" bIns="0" rIns="0">
            <a:spAutoFit/>
          </a:bodyPr>
          <a:lstStyle/>
          <a:p>
            <a:pPr algn="l">
              <a:lnSpc>
                <a:spcPts val="2940"/>
              </a:lnSpc>
              <a:spcBef>
                <a:spcPct val="0"/>
              </a:spcBef>
            </a:pPr>
            <a:r>
              <a:rPr lang="en-US" sz="2100">
                <a:solidFill>
                  <a:srgbClr val="331B0D"/>
                </a:solidFill>
                <a:latin typeface="Open Sauce"/>
                <a:ea typeface="Open Sauce"/>
                <a:cs typeface="Open Sauce"/>
                <a:sym typeface="Open Sauce"/>
              </a:rPr>
              <a:t>I designed and developed a chatbot in Unity that will adapt to how the user talks and interacts with it.</a:t>
            </a:r>
          </a:p>
        </p:txBody>
      </p:sp>
      <p:sp>
        <p:nvSpPr>
          <p:cNvPr name="TextBox 10" id="10"/>
          <p:cNvSpPr txBox="true"/>
          <p:nvPr/>
        </p:nvSpPr>
        <p:spPr>
          <a:xfrm rot="0">
            <a:off x="12949128" y="5667375"/>
            <a:ext cx="2746871" cy="405765"/>
          </a:xfrm>
          <a:prstGeom prst="rect">
            <a:avLst/>
          </a:prstGeom>
        </p:spPr>
        <p:txBody>
          <a:bodyPr anchor="t" rtlCol="false" tIns="0" lIns="0" bIns="0" rIns="0">
            <a:spAutoFit/>
          </a:bodyPr>
          <a:lstStyle/>
          <a:p>
            <a:pPr algn="l">
              <a:lnSpc>
                <a:spcPts val="3359"/>
              </a:lnSpc>
              <a:spcBef>
                <a:spcPct val="0"/>
              </a:spcBef>
            </a:pPr>
            <a:r>
              <a:rPr lang="en-US" sz="2400">
                <a:solidFill>
                  <a:srgbClr val="8C7753"/>
                </a:solidFill>
                <a:latin typeface="Open Sauce"/>
                <a:ea typeface="Open Sauce"/>
                <a:cs typeface="Open Sauce"/>
                <a:sym typeface="Open Sauce"/>
              </a:rPr>
              <a:t>Why It Matte</a:t>
            </a:r>
            <a:r>
              <a:rPr lang="en-US" sz="2400">
                <a:solidFill>
                  <a:srgbClr val="8C7753"/>
                </a:solidFill>
                <a:latin typeface="Open Sauce"/>
                <a:ea typeface="Open Sauce"/>
                <a:cs typeface="Open Sauce"/>
                <a:sym typeface="Open Sauce"/>
              </a:rPr>
              <a:t>rs</a:t>
            </a:r>
          </a:p>
        </p:txBody>
      </p:sp>
      <p:sp>
        <p:nvSpPr>
          <p:cNvPr name="TextBox 11" id="11"/>
          <p:cNvSpPr txBox="true"/>
          <p:nvPr/>
        </p:nvSpPr>
        <p:spPr>
          <a:xfrm rot="0">
            <a:off x="12949128" y="6425565"/>
            <a:ext cx="4310172" cy="1480185"/>
          </a:xfrm>
          <a:prstGeom prst="rect">
            <a:avLst/>
          </a:prstGeom>
        </p:spPr>
        <p:txBody>
          <a:bodyPr anchor="t" rtlCol="false" tIns="0" lIns="0" bIns="0" rIns="0">
            <a:spAutoFit/>
          </a:bodyPr>
          <a:lstStyle/>
          <a:p>
            <a:pPr algn="l">
              <a:lnSpc>
                <a:spcPts val="2940"/>
              </a:lnSpc>
              <a:spcBef>
                <a:spcPct val="0"/>
              </a:spcBef>
            </a:pPr>
            <a:r>
              <a:rPr lang="en-US" sz="2100">
                <a:solidFill>
                  <a:srgbClr val="331B0D"/>
                </a:solidFill>
                <a:latin typeface="Open Sauce"/>
                <a:ea typeface="Open Sauce"/>
                <a:cs typeface="Open Sauce"/>
                <a:sym typeface="Open Sauce"/>
              </a:rPr>
              <a:t>It’s critical that our field, that a majority of people use as an escape is accessible to anyone who may need it.</a:t>
            </a:r>
          </a:p>
        </p:txBody>
      </p:sp>
      <p:sp>
        <p:nvSpPr>
          <p:cNvPr name="TextBox 12" id="12"/>
          <p:cNvSpPr txBox="true"/>
          <p:nvPr/>
        </p:nvSpPr>
        <p:spPr>
          <a:xfrm rot="0">
            <a:off x="12698616" y="8984615"/>
            <a:ext cx="4560684" cy="273685"/>
          </a:xfrm>
          <a:prstGeom prst="rect">
            <a:avLst/>
          </a:prstGeom>
        </p:spPr>
        <p:txBody>
          <a:bodyPr anchor="t" rtlCol="false" tIns="0" lIns="0" bIns="0" rIns="0">
            <a:spAutoFit/>
          </a:bodyPr>
          <a:lstStyle/>
          <a:p>
            <a:pPr algn="r">
              <a:lnSpc>
                <a:spcPts val="2239"/>
              </a:lnSpc>
            </a:pPr>
            <a:r>
              <a:rPr lang="en-US" sz="1599">
                <a:solidFill>
                  <a:srgbClr val="331B0D"/>
                </a:solidFill>
                <a:latin typeface="Open Sauce"/>
                <a:ea typeface="Open Sauce"/>
                <a:cs typeface="Open Sauce"/>
                <a:sym typeface="Open Sauce"/>
              </a:rPr>
              <a:t>3</a:t>
            </a:r>
          </a:p>
        </p:txBody>
      </p:sp>
      <p:sp>
        <p:nvSpPr>
          <p:cNvPr name="TextBox 13" id="13"/>
          <p:cNvSpPr txBox="true"/>
          <p:nvPr/>
        </p:nvSpPr>
        <p:spPr>
          <a:xfrm rot="0">
            <a:off x="1028700" y="1057275"/>
            <a:ext cx="2847786" cy="245745"/>
          </a:xfrm>
          <a:prstGeom prst="rect">
            <a:avLst/>
          </a:prstGeom>
        </p:spPr>
        <p:txBody>
          <a:bodyPr anchor="t" rtlCol="false" tIns="0" lIns="0" bIns="0" rIns="0">
            <a:spAutoFit/>
          </a:bodyPr>
          <a:lstStyle/>
          <a:p>
            <a:pPr algn="just">
              <a:lnSpc>
                <a:spcPts val="1800"/>
              </a:lnSpc>
              <a:spcBef>
                <a:spcPct val="0"/>
              </a:spcBef>
            </a:pPr>
            <a:r>
              <a:rPr lang="en-US" b="true" sz="1800" spc="179">
                <a:solidFill>
                  <a:srgbClr val="8C7753"/>
                </a:solidFill>
                <a:latin typeface="Open Sauce Bold"/>
                <a:ea typeface="Open Sauce Bold"/>
                <a:cs typeface="Open Sauce Bold"/>
                <a:sym typeface="Open Sauce Bold"/>
              </a:rPr>
              <a:t>Introduction</a:t>
            </a: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EFEEE7"/>
        </a:solidFill>
      </p:bgPr>
    </p:bg>
    <p:spTree>
      <p:nvGrpSpPr>
        <p:cNvPr id="1" name=""/>
        <p:cNvGrpSpPr/>
        <p:nvPr/>
      </p:nvGrpSpPr>
      <p:grpSpPr>
        <a:xfrm>
          <a:off x="0" y="0"/>
          <a:ext cx="0" cy="0"/>
          <a:chOff x="0" y="0"/>
          <a:chExt cx="0" cy="0"/>
        </a:xfrm>
      </p:grpSpPr>
      <p:sp>
        <p:nvSpPr>
          <p:cNvPr name="TextBox 2" id="2"/>
          <p:cNvSpPr txBox="true"/>
          <p:nvPr/>
        </p:nvSpPr>
        <p:spPr>
          <a:xfrm rot="0">
            <a:off x="1016407" y="3111146"/>
            <a:ext cx="9509685" cy="1961510"/>
          </a:xfrm>
          <a:prstGeom prst="rect">
            <a:avLst/>
          </a:prstGeom>
        </p:spPr>
        <p:txBody>
          <a:bodyPr anchor="t" rtlCol="false" tIns="0" lIns="0" bIns="0" rIns="0">
            <a:spAutoFit/>
          </a:bodyPr>
          <a:lstStyle/>
          <a:p>
            <a:pPr algn="l">
              <a:lnSpc>
                <a:spcPts val="7865"/>
              </a:lnSpc>
            </a:pPr>
            <a:r>
              <a:rPr lang="en-US" sz="6050" spc="30">
                <a:solidFill>
                  <a:srgbClr val="2B2C30"/>
                </a:solidFill>
                <a:latin typeface="Playfair Display"/>
                <a:ea typeface="Playfair Display"/>
                <a:cs typeface="Playfair Display"/>
                <a:sym typeface="Playfair Display"/>
              </a:rPr>
              <a:t>About the Chatbot Profiler (Chatbot for Short)</a:t>
            </a:r>
          </a:p>
        </p:txBody>
      </p:sp>
      <p:sp>
        <p:nvSpPr>
          <p:cNvPr name="TextBox 3" id="3"/>
          <p:cNvSpPr txBox="true"/>
          <p:nvPr/>
        </p:nvSpPr>
        <p:spPr>
          <a:xfrm rot="0">
            <a:off x="12698616" y="8984615"/>
            <a:ext cx="4560684" cy="273685"/>
          </a:xfrm>
          <a:prstGeom prst="rect">
            <a:avLst/>
          </a:prstGeom>
        </p:spPr>
        <p:txBody>
          <a:bodyPr anchor="t" rtlCol="false" tIns="0" lIns="0" bIns="0" rIns="0">
            <a:spAutoFit/>
          </a:bodyPr>
          <a:lstStyle/>
          <a:p>
            <a:pPr algn="r">
              <a:lnSpc>
                <a:spcPts val="2239"/>
              </a:lnSpc>
            </a:pPr>
            <a:r>
              <a:rPr lang="en-US" sz="1599">
                <a:solidFill>
                  <a:srgbClr val="331B0D"/>
                </a:solidFill>
                <a:latin typeface="Open Sauce"/>
                <a:ea typeface="Open Sauce"/>
                <a:cs typeface="Open Sauce"/>
                <a:sym typeface="Open Sauce"/>
              </a:rPr>
              <a:t>4</a:t>
            </a: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EFEEE7"/>
        </a:solidFill>
      </p:bgPr>
    </p:bg>
    <p:spTree>
      <p:nvGrpSpPr>
        <p:cNvPr id="1" name=""/>
        <p:cNvGrpSpPr/>
        <p:nvPr/>
      </p:nvGrpSpPr>
      <p:grpSpPr>
        <a:xfrm>
          <a:off x="0" y="0"/>
          <a:ext cx="0" cy="0"/>
          <a:chOff x="0" y="0"/>
          <a:chExt cx="0" cy="0"/>
        </a:xfrm>
      </p:grpSpPr>
      <p:sp>
        <p:nvSpPr>
          <p:cNvPr name="TextBox 2" id="2"/>
          <p:cNvSpPr txBox="true"/>
          <p:nvPr/>
        </p:nvSpPr>
        <p:spPr>
          <a:xfrm rot="0">
            <a:off x="1006871" y="942975"/>
            <a:ext cx="16230600" cy="651099"/>
          </a:xfrm>
          <a:prstGeom prst="rect">
            <a:avLst/>
          </a:prstGeom>
        </p:spPr>
        <p:txBody>
          <a:bodyPr anchor="t" rtlCol="false" tIns="0" lIns="0" bIns="0" rIns="0">
            <a:spAutoFit/>
          </a:bodyPr>
          <a:lstStyle/>
          <a:p>
            <a:pPr algn="l">
              <a:lnSpc>
                <a:spcPts val="5200"/>
              </a:lnSpc>
              <a:spcBef>
                <a:spcPct val="0"/>
              </a:spcBef>
            </a:pPr>
            <a:r>
              <a:rPr lang="en-US" b="true" sz="3714" spc="843">
                <a:solidFill>
                  <a:srgbClr val="2B2C30"/>
                </a:solidFill>
                <a:latin typeface="Public Sans Bold"/>
                <a:ea typeface="Public Sans Bold"/>
                <a:cs typeface="Public Sans Bold"/>
                <a:sym typeface="Public Sans Bold"/>
              </a:rPr>
              <a:t>WHY DID I MAKE A CHATBOT PROFILER?</a:t>
            </a:r>
          </a:p>
        </p:txBody>
      </p:sp>
      <p:sp>
        <p:nvSpPr>
          <p:cNvPr name="AutoShape 3" id="3"/>
          <p:cNvSpPr/>
          <p:nvPr/>
        </p:nvSpPr>
        <p:spPr>
          <a:xfrm flipV="true">
            <a:off x="1028695" y="1760761"/>
            <a:ext cx="16230594" cy="38509"/>
          </a:xfrm>
          <a:prstGeom prst="line">
            <a:avLst/>
          </a:prstGeom>
          <a:ln cap="flat" w="9525">
            <a:solidFill>
              <a:srgbClr val="2B2C30"/>
            </a:solidFill>
            <a:prstDash val="solid"/>
            <a:headEnd type="none" len="sm" w="sm"/>
            <a:tailEnd type="none" len="sm" w="sm"/>
          </a:ln>
        </p:spPr>
      </p:sp>
      <p:sp>
        <p:nvSpPr>
          <p:cNvPr name="TextBox 4" id="4"/>
          <p:cNvSpPr txBox="true"/>
          <p:nvPr/>
        </p:nvSpPr>
        <p:spPr>
          <a:xfrm rot="0">
            <a:off x="1028689" y="2122290"/>
            <a:ext cx="14134059" cy="609473"/>
          </a:xfrm>
          <a:prstGeom prst="rect">
            <a:avLst/>
          </a:prstGeom>
        </p:spPr>
        <p:txBody>
          <a:bodyPr anchor="t" rtlCol="false" tIns="0" lIns="0" bIns="0" rIns="0">
            <a:spAutoFit/>
          </a:bodyPr>
          <a:lstStyle/>
          <a:p>
            <a:pPr algn="l" marL="604519" indent="-302260" lvl="1">
              <a:lnSpc>
                <a:spcPts val="5235"/>
              </a:lnSpc>
              <a:buFont typeface="Arial"/>
              <a:buChar char="•"/>
            </a:pPr>
            <a:r>
              <a:rPr lang="en-US" sz="2799">
                <a:solidFill>
                  <a:srgbClr val="2B2C30"/>
                </a:solidFill>
                <a:latin typeface="Public Sans"/>
                <a:ea typeface="Public Sans"/>
                <a:cs typeface="Public Sans"/>
                <a:sym typeface="Public Sans"/>
              </a:rPr>
              <a:t>“Around 45% of individuals with disabilities play video games” (AbleGamer)</a:t>
            </a:r>
          </a:p>
        </p:txBody>
      </p:sp>
      <p:sp>
        <p:nvSpPr>
          <p:cNvPr name="TextBox 5" id="5"/>
          <p:cNvSpPr txBox="true"/>
          <p:nvPr/>
        </p:nvSpPr>
        <p:spPr>
          <a:xfrm rot="0">
            <a:off x="1028700" y="2733796"/>
            <a:ext cx="14134059" cy="609473"/>
          </a:xfrm>
          <a:prstGeom prst="rect">
            <a:avLst/>
          </a:prstGeom>
        </p:spPr>
        <p:txBody>
          <a:bodyPr anchor="t" rtlCol="false" tIns="0" lIns="0" bIns="0" rIns="0">
            <a:spAutoFit/>
          </a:bodyPr>
          <a:lstStyle/>
          <a:p>
            <a:pPr algn="l" marL="604519" indent="-302260" lvl="1">
              <a:lnSpc>
                <a:spcPts val="5235"/>
              </a:lnSpc>
              <a:buFont typeface="Arial"/>
              <a:buChar char="•"/>
            </a:pPr>
            <a:r>
              <a:rPr lang="en-US" sz="2799">
                <a:solidFill>
                  <a:srgbClr val="2B2C30"/>
                </a:solidFill>
                <a:latin typeface="Public Sans"/>
                <a:ea typeface="Public Sans"/>
                <a:cs typeface="Public Sans"/>
                <a:sym typeface="Public Sans"/>
              </a:rPr>
              <a:t>20~30% of ~3 billion gamers have accessibility issues.</a:t>
            </a:r>
          </a:p>
        </p:txBody>
      </p:sp>
      <p:sp>
        <p:nvSpPr>
          <p:cNvPr name="TextBox 6" id="6"/>
          <p:cNvSpPr txBox="true"/>
          <p:nvPr/>
        </p:nvSpPr>
        <p:spPr>
          <a:xfrm rot="0">
            <a:off x="1028700" y="3345301"/>
            <a:ext cx="14134059" cy="1266698"/>
          </a:xfrm>
          <a:prstGeom prst="rect">
            <a:avLst/>
          </a:prstGeom>
        </p:spPr>
        <p:txBody>
          <a:bodyPr anchor="t" rtlCol="false" tIns="0" lIns="0" bIns="0" rIns="0">
            <a:spAutoFit/>
          </a:bodyPr>
          <a:lstStyle/>
          <a:p>
            <a:pPr algn="l" marL="604519" indent="-302260" lvl="1">
              <a:lnSpc>
                <a:spcPts val="5235"/>
              </a:lnSpc>
              <a:buFont typeface="Arial"/>
              <a:buChar char="•"/>
            </a:pPr>
            <a:r>
              <a:rPr lang="en-US" sz="2799">
                <a:solidFill>
                  <a:srgbClr val="2B2C30"/>
                </a:solidFill>
                <a:latin typeface="Public Sans"/>
                <a:ea typeface="Public Sans"/>
                <a:cs typeface="Public Sans"/>
                <a:sym typeface="Public Sans"/>
              </a:rPr>
              <a:t>Video games provide a vital platform for social engagement. Especially for those with difficulty performing other activities.</a:t>
            </a:r>
          </a:p>
        </p:txBody>
      </p:sp>
      <p:sp>
        <p:nvSpPr>
          <p:cNvPr name="TextBox 7" id="7"/>
          <p:cNvSpPr txBox="true"/>
          <p:nvPr/>
        </p:nvSpPr>
        <p:spPr>
          <a:xfrm rot="0">
            <a:off x="1028700" y="5271257"/>
            <a:ext cx="14134059" cy="1266698"/>
          </a:xfrm>
          <a:prstGeom prst="rect">
            <a:avLst/>
          </a:prstGeom>
        </p:spPr>
        <p:txBody>
          <a:bodyPr anchor="t" rtlCol="false" tIns="0" lIns="0" bIns="0" rIns="0">
            <a:spAutoFit/>
          </a:bodyPr>
          <a:lstStyle/>
          <a:p>
            <a:pPr algn="l">
              <a:lnSpc>
                <a:spcPts val="5235"/>
              </a:lnSpc>
            </a:pPr>
            <a:r>
              <a:rPr lang="en-US" sz="2799">
                <a:solidFill>
                  <a:srgbClr val="2B2C30"/>
                </a:solidFill>
                <a:latin typeface="Public Sans"/>
                <a:ea typeface="Public Sans"/>
                <a:cs typeface="Public Sans"/>
                <a:sym typeface="Public Sans"/>
              </a:rPr>
              <a:t>Ultimately, I started this project to learn more about accessibility. To find out what we can do as game developers to make our field more inclusive.</a:t>
            </a:r>
          </a:p>
        </p:txBody>
      </p:sp>
      <p:sp>
        <p:nvSpPr>
          <p:cNvPr name="TextBox 8" id="8"/>
          <p:cNvSpPr txBox="true"/>
          <p:nvPr/>
        </p:nvSpPr>
        <p:spPr>
          <a:xfrm rot="0">
            <a:off x="12698616" y="8984615"/>
            <a:ext cx="4560684" cy="273685"/>
          </a:xfrm>
          <a:prstGeom prst="rect">
            <a:avLst/>
          </a:prstGeom>
        </p:spPr>
        <p:txBody>
          <a:bodyPr anchor="t" rtlCol="false" tIns="0" lIns="0" bIns="0" rIns="0">
            <a:spAutoFit/>
          </a:bodyPr>
          <a:lstStyle/>
          <a:p>
            <a:pPr algn="r">
              <a:lnSpc>
                <a:spcPts val="2239"/>
              </a:lnSpc>
            </a:pPr>
            <a:r>
              <a:rPr lang="en-US" sz="1599">
                <a:solidFill>
                  <a:srgbClr val="331B0D"/>
                </a:solidFill>
                <a:latin typeface="Open Sauce"/>
                <a:ea typeface="Open Sauce"/>
                <a:cs typeface="Open Sauce"/>
                <a:sym typeface="Open Sauce"/>
              </a:rPr>
              <a:t>5</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AF7F0"/>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9144000" cy="10287000"/>
          </a:xfrm>
          <a:custGeom>
            <a:avLst/>
            <a:gdLst/>
            <a:ahLst/>
            <a:cxnLst/>
            <a:rect r="r" b="b" t="t" l="l"/>
            <a:pathLst>
              <a:path h="10287000" w="9144000">
                <a:moveTo>
                  <a:pt x="0" y="0"/>
                </a:moveTo>
                <a:lnTo>
                  <a:pt x="9144000" y="0"/>
                </a:lnTo>
                <a:lnTo>
                  <a:pt x="9144000" y="10287000"/>
                </a:lnTo>
                <a:lnTo>
                  <a:pt x="0" y="10287000"/>
                </a:lnTo>
                <a:lnTo>
                  <a:pt x="0" y="0"/>
                </a:lnTo>
                <a:close/>
              </a:path>
            </a:pathLst>
          </a:custGeom>
          <a:blipFill>
            <a:blip r:embed="rId2"/>
            <a:stretch>
              <a:fillRect l="-34427" t="0" r="-34427" b="0"/>
            </a:stretch>
          </a:blipFill>
        </p:spPr>
      </p:sp>
      <p:sp>
        <p:nvSpPr>
          <p:cNvPr name="TextBox 3" id="3"/>
          <p:cNvSpPr txBox="true"/>
          <p:nvPr/>
        </p:nvSpPr>
        <p:spPr>
          <a:xfrm rot="0">
            <a:off x="9912749" y="1989777"/>
            <a:ext cx="7342398" cy="636270"/>
          </a:xfrm>
          <a:prstGeom prst="rect">
            <a:avLst/>
          </a:prstGeom>
        </p:spPr>
        <p:txBody>
          <a:bodyPr anchor="t" rtlCol="false" tIns="0" lIns="0" bIns="0" rIns="0">
            <a:spAutoFit/>
          </a:bodyPr>
          <a:lstStyle/>
          <a:p>
            <a:pPr algn="l">
              <a:lnSpc>
                <a:spcPts val="4800"/>
              </a:lnSpc>
            </a:pPr>
            <a:r>
              <a:rPr lang="en-US" sz="4800" spc="-288">
                <a:solidFill>
                  <a:srgbClr val="331B0D"/>
                </a:solidFill>
                <a:latin typeface="Open Sauce"/>
                <a:ea typeface="Open Sauce"/>
                <a:cs typeface="Open Sauce"/>
                <a:sym typeface="Open Sauce"/>
              </a:rPr>
              <a:t>Project Summary</a:t>
            </a:r>
          </a:p>
        </p:txBody>
      </p:sp>
      <p:sp>
        <p:nvSpPr>
          <p:cNvPr name="TextBox 4" id="4"/>
          <p:cNvSpPr txBox="true"/>
          <p:nvPr/>
        </p:nvSpPr>
        <p:spPr>
          <a:xfrm rot="0">
            <a:off x="12698616" y="8984615"/>
            <a:ext cx="4560684" cy="273685"/>
          </a:xfrm>
          <a:prstGeom prst="rect">
            <a:avLst/>
          </a:prstGeom>
        </p:spPr>
        <p:txBody>
          <a:bodyPr anchor="t" rtlCol="false" tIns="0" lIns="0" bIns="0" rIns="0">
            <a:spAutoFit/>
          </a:bodyPr>
          <a:lstStyle/>
          <a:p>
            <a:pPr algn="r">
              <a:lnSpc>
                <a:spcPts val="2239"/>
              </a:lnSpc>
            </a:pPr>
            <a:r>
              <a:rPr lang="en-US" sz="1599">
                <a:solidFill>
                  <a:srgbClr val="331B0D"/>
                </a:solidFill>
                <a:latin typeface="Open Sauce"/>
                <a:ea typeface="Open Sauce"/>
                <a:cs typeface="Open Sauce"/>
                <a:sym typeface="Open Sauce"/>
              </a:rPr>
              <a:t>6</a:t>
            </a:r>
          </a:p>
        </p:txBody>
      </p:sp>
      <p:sp>
        <p:nvSpPr>
          <p:cNvPr name="TextBox 5" id="5"/>
          <p:cNvSpPr txBox="true"/>
          <p:nvPr/>
        </p:nvSpPr>
        <p:spPr>
          <a:xfrm rot="0">
            <a:off x="9912749" y="3073722"/>
            <a:ext cx="3671199" cy="405765"/>
          </a:xfrm>
          <a:prstGeom prst="rect">
            <a:avLst/>
          </a:prstGeom>
        </p:spPr>
        <p:txBody>
          <a:bodyPr anchor="t" rtlCol="false" tIns="0" lIns="0" bIns="0" rIns="0">
            <a:spAutoFit/>
          </a:bodyPr>
          <a:lstStyle/>
          <a:p>
            <a:pPr algn="l">
              <a:lnSpc>
                <a:spcPts val="3359"/>
              </a:lnSpc>
              <a:spcBef>
                <a:spcPct val="0"/>
              </a:spcBef>
            </a:pPr>
            <a:r>
              <a:rPr lang="en-US" sz="2400">
                <a:solidFill>
                  <a:srgbClr val="8C7753"/>
                </a:solidFill>
                <a:latin typeface="Open Sauce"/>
                <a:ea typeface="Open Sauce"/>
                <a:cs typeface="Open Sauce"/>
                <a:sym typeface="Open Sauce"/>
              </a:rPr>
              <a:t>What I Cre</a:t>
            </a:r>
            <a:r>
              <a:rPr lang="en-US" sz="2400">
                <a:solidFill>
                  <a:srgbClr val="8C7753"/>
                </a:solidFill>
                <a:latin typeface="Open Sauce"/>
                <a:ea typeface="Open Sauce"/>
                <a:cs typeface="Open Sauce"/>
                <a:sym typeface="Open Sauce"/>
              </a:rPr>
              <a:t>ated</a:t>
            </a:r>
          </a:p>
        </p:txBody>
      </p:sp>
      <p:sp>
        <p:nvSpPr>
          <p:cNvPr name="TextBox 6" id="6"/>
          <p:cNvSpPr txBox="true"/>
          <p:nvPr/>
        </p:nvSpPr>
        <p:spPr>
          <a:xfrm rot="0">
            <a:off x="9912749" y="3831912"/>
            <a:ext cx="7342398" cy="1108710"/>
          </a:xfrm>
          <a:prstGeom prst="rect">
            <a:avLst/>
          </a:prstGeom>
        </p:spPr>
        <p:txBody>
          <a:bodyPr anchor="t" rtlCol="false" tIns="0" lIns="0" bIns="0" rIns="0">
            <a:spAutoFit/>
          </a:bodyPr>
          <a:lstStyle/>
          <a:p>
            <a:pPr algn="l">
              <a:lnSpc>
                <a:spcPts val="2940"/>
              </a:lnSpc>
              <a:spcBef>
                <a:spcPct val="0"/>
              </a:spcBef>
            </a:pPr>
            <a:r>
              <a:rPr lang="en-US" sz="2100">
                <a:solidFill>
                  <a:srgbClr val="331B0D"/>
                </a:solidFill>
                <a:latin typeface="Open Sauce"/>
                <a:ea typeface="Open Sauce"/>
                <a:cs typeface="Open Sauce"/>
                <a:sym typeface="Open Sauce"/>
              </a:rPr>
              <a:t>It is a chatbot within Unity, that the user will speak to. In return the chatbot will respond adapting to how the user speaks.</a:t>
            </a:r>
          </a:p>
        </p:txBody>
      </p:sp>
      <p:sp>
        <p:nvSpPr>
          <p:cNvPr name="TextBox 7" id="7"/>
          <p:cNvSpPr txBox="true"/>
          <p:nvPr/>
        </p:nvSpPr>
        <p:spPr>
          <a:xfrm rot="0">
            <a:off x="9912749" y="5702622"/>
            <a:ext cx="4473749" cy="405765"/>
          </a:xfrm>
          <a:prstGeom prst="rect">
            <a:avLst/>
          </a:prstGeom>
        </p:spPr>
        <p:txBody>
          <a:bodyPr anchor="t" rtlCol="false" tIns="0" lIns="0" bIns="0" rIns="0">
            <a:spAutoFit/>
          </a:bodyPr>
          <a:lstStyle/>
          <a:p>
            <a:pPr algn="l">
              <a:lnSpc>
                <a:spcPts val="3359"/>
              </a:lnSpc>
              <a:spcBef>
                <a:spcPct val="0"/>
              </a:spcBef>
            </a:pPr>
            <a:r>
              <a:rPr lang="en-US" sz="2400">
                <a:solidFill>
                  <a:srgbClr val="8C7753"/>
                </a:solidFill>
                <a:latin typeface="Open Sauce"/>
                <a:ea typeface="Open Sauce"/>
                <a:cs typeface="Open Sauce"/>
                <a:sym typeface="Open Sauce"/>
              </a:rPr>
              <a:t>What It Does</a:t>
            </a:r>
          </a:p>
        </p:txBody>
      </p:sp>
      <p:sp>
        <p:nvSpPr>
          <p:cNvPr name="TextBox 8" id="8"/>
          <p:cNvSpPr txBox="true"/>
          <p:nvPr/>
        </p:nvSpPr>
        <p:spPr>
          <a:xfrm rot="0">
            <a:off x="9912749" y="6460812"/>
            <a:ext cx="7342398" cy="2223135"/>
          </a:xfrm>
          <a:prstGeom prst="rect">
            <a:avLst/>
          </a:prstGeom>
        </p:spPr>
        <p:txBody>
          <a:bodyPr anchor="t" rtlCol="false" tIns="0" lIns="0" bIns="0" rIns="0">
            <a:spAutoFit/>
          </a:bodyPr>
          <a:lstStyle/>
          <a:p>
            <a:pPr algn="l" marL="453390" indent="-226695" lvl="1">
              <a:lnSpc>
                <a:spcPts val="2940"/>
              </a:lnSpc>
              <a:buFont typeface="Arial"/>
              <a:buChar char="•"/>
            </a:pPr>
            <a:r>
              <a:rPr lang="en-US" sz="2100">
                <a:solidFill>
                  <a:srgbClr val="331B0D"/>
                </a:solidFill>
                <a:latin typeface="Open Sauce"/>
                <a:ea typeface="Open Sauce"/>
                <a:cs typeface="Open Sauce"/>
                <a:sym typeface="Open Sauce"/>
              </a:rPr>
              <a:t>After each user message, a finetuned model will analyze the message and evaluate certain parameters.</a:t>
            </a:r>
          </a:p>
          <a:p>
            <a:pPr algn="l" marL="453390" indent="-226695" lvl="1">
              <a:lnSpc>
                <a:spcPts val="2940"/>
              </a:lnSpc>
              <a:spcBef>
                <a:spcPct val="0"/>
              </a:spcBef>
              <a:buFont typeface="Arial"/>
              <a:buChar char="•"/>
            </a:pPr>
            <a:r>
              <a:rPr lang="en-US" sz="2100">
                <a:solidFill>
                  <a:srgbClr val="331B0D"/>
                </a:solidFill>
                <a:latin typeface="Open Sauce"/>
                <a:ea typeface="Open Sauce"/>
                <a:cs typeface="Open Sauce"/>
                <a:sym typeface="Open Sauce"/>
              </a:rPr>
              <a:t>Then that model will pass those parameters and a system prompt to a GPT model, where it will use it to speak back to the user.</a:t>
            </a: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FAF7F0"/>
        </a:solidFill>
      </p:bgPr>
    </p:bg>
    <p:spTree>
      <p:nvGrpSpPr>
        <p:cNvPr id="1" name=""/>
        <p:cNvGrpSpPr/>
        <p:nvPr/>
      </p:nvGrpSpPr>
      <p:grpSpPr>
        <a:xfrm>
          <a:off x="0" y="0"/>
          <a:ext cx="0" cy="0"/>
          <a:chOff x="0" y="0"/>
          <a:chExt cx="0" cy="0"/>
        </a:xfrm>
      </p:grpSpPr>
      <p:sp>
        <p:nvSpPr>
          <p:cNvPr name="TextBox 2" id="2"/>
          <p:cNvSpPr txBox="true"/>
          <p:nvPr/>
        </p:nvSpPr>
        <p:spPr>
          <a:xfrm rot="0">
            <a:off x="933450" y="2696608"/>
            <a:ext cx="10910528" cy="1735035"/>
          </a:xfrm>
          <a:prstGeom prst="rect">
            <a:avLst/>
          </a:prstGeom>
        </p:spPr>
        <p:txBody>
          <a:bodyPr anchor="t" rtlCol="false" tIns="0" lIns="0" bIns="0" rIns="0">
            <a:spAutoFit/>
          </a:bodyPr>
          <a:lstStyle/>
          <a:p>
            <a:pPr algn="l">
              <a:lnSpc>
                <a:spcPts val="13040"/>
              </a:lnSpc>
            </a:pPr>
            <a:r>
              <a:rPr lang="en-US" sz="13040" spc="-782">
                <a:solidFill>
                  <a:srgbClr val="331B0D"/>
                </a:solidFill>
                <a:latin typeface="Open Sauce"/>
                <a:ea typeface="Open Sauce"/>
                <a:cs typeface="Open Sauce"/>
                <a:sym typeface="Open Sauce"/>
              </a:rPr>
              <a:t>Demo Time!</a:t>
            </a:r>
          </a:p>
        </p:txBody>
      </p:sp>
      <p:sp>
        <p:nvSpPr>
          <p:cNvPr name="TextBox 3" id="3"/>
          <p:cNvSpPr txBox="true"/>
          <p:nvPr/>
        </p:nvSpPr>
        <p:spPr>
          <a:xfrm rot="0">
            <a:off x="12698616" y="8984615"/>
            <a:ext cx="4560684" cy="273685"/>
          </a:xfrm>
          <a:prstGeom prst="rect">
            <a:avLst/>
          </a:prstGeom>
        </p:spPr>
        <p:txBody>
          <a:bodyPr anchor="t" rtlCol="false" tIns="0" lIns="0" bIns="0" rIns="0">
            <a:spAutoFit/>
          </a:bodyPr>
          <a:lstStyle/>
          <a:p>
            <a:pPr algn="r">
              <a:lnSpc>
                <a:spcPts val="2239"/>
              </a:lnSpc>
            </a:pPr>
            <a:r>
              <a:rPr lang="en-US" sz="1599">
                <a:solidFill>
                  <a:srgbClr val="331B0D"/>
                </a:solidFill>
                <a:latin typeface="Open Sauce"/>
                <a:ea typeface="Open Sauce"/>
                <a:cs typeface="Open Sauce"/>
                <a:sym typeface="Open Sauce"/>
              </a:rPr>
              <a:t>7</a:t>
            </a:r>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FAF7F0"/>
        </a:solidFill>
      </p:bgPr>
    </p:bg>
    <p:spTree>
      <p:nvGrpSpPr>
        <p:cNvPr id="1" name=""/>
        <p:cNvGrpSpPr/>
        <p:nvPr/>
      </p:nvGrpSpPr>
      <p:grpSpPr>
        <a:xfrm>
          <a:off x="0" y="0"/>
          <a:ext cx="0" cy="0"/>
          <a:chOff x="0" y="0"/>
          <a:chExt cx="0" cy="0"/>
        </a:xfrm>
      </p:grpSpPr>
      <p:sp>
        <p:nvSpPr>
          <p:cNvPr name="TextBox 2" id="2"/>
          <p:cNvSpPr txBox="true"/>
          <p:nvPr/>
        </p:nvSpPr>
        <p:spPr>
          <a:xfrm rot="0">
            <a:off x="933450" y="2696608"/>
            <a:ext cx="10910528" cy="3386490"/>
          </a:xfrm>
          <a:prstGeom prst="rect">
            <a:avLst/>
          </a:prstGeom>
        </p:spPr>
        <p:txBody>
          <a:bodyPr anchor="t" rtlCol="false" tIns="0" lIns="0" bIns="0" rIns="0">
            <a:spAutoFit/>
          </a:bodyPr>
          <a:lstStyle/>
          <a:p>
            <a:pPr algn="l">
              <a:lnSpc>
                <a:spcPts val="13040"/>
              </a:lnSpc>
            </a:pPr>
            <a:r>
              <a:rPr lang="en-US" sz="13040" spc="-782">
                <a:solidFill>
                  <a:srgbClr val="331B0D"/>
                </a:solidFill>
                <a:latin typeface="Open Sauce"/>
                <a:ea typeface="Open Sauce"/>
                <a:cs typeface="Open Sauce"/>
                <a:sym typeface="Open Sauce"/>
              </a:rPr>
              <a:t>How Does it Work?</a:t>
            </a:r>
          </a:p>
        </p:txBody>
      </p:sp>
      <p:sp>
        <p:nvSpPr>
          <p:cNvPr name="TextBox 3" id="3"/>
          <p:cNvSpPr txBox="true"/>
          <p:nvPr/>
        </p:nvSpPr>
        <p:spPr>
          <a:xfrm rot="0">
            <a:off x="12698616" y="8984615"/>
            <a:ext cx="4560684" cy="273685"/>
          </a:xfrm>
          <a:prstGeom prst="rect">
            <a:avLst/>
          </a:prstGeom>
        </p:spPr>
        <p:txBody>
          <a:bodyPr anchor="t" rtlCol="false" tIns="0" lIns="0" bIns="0" rIns="0">
            <a:spAutoFit/>
          </a:bodyPr>
          <a:lstStyle/>
          <a:p>
            <a:pPr algn="r">
              <a:lnSpc>
                <a:spcPts val="2239"/>
              </a:lnSpc>
            </a:pPr>
            <a:r>
              <a:rPr lang="en-US" sz="1599">
                <a:solidFill>
                  <a:srgbClr val="331B0D"/>
                </a:solidFill>
                <a:latin typeface="Open Sauce"/>
                <a:ea typeface="Open Sauce"/>
                <a:cs typeface="Open Sauce"/>
                <a:sym typeface="Open Sauce"/>
              </a:rPr>
              <a:t>8</a:t>
            </a:r>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EFEEE7"/>
        </a:solidFill>
      </p:bgPr>
    </p:bg>
    <p:spTree>
      <p:nvGrpSpPr>
        <p:cNvPr id="1" name=""/>
        <p:cNvGrpSpPr/>
        <p:nvPr/>
      </p:nvGrpSpPr>
      <p:grpSpPr>
        <a:xfrm>
          <a:off x="0" y="0"/>
          <a:ext cx="0" cy="0"/>
          <a:chOff x="0" y="0"/>
          <a:chExt cx="0" cy="0"/>
        </a:xfrm>
      </p:grpSpPr>
      <p:sp>
        <p:nvSpPr>
          <p:cNvPr name="AutoShape 2" id="2"/>
          <p:cNvSpPr/>
          <p:nvPr/>
        </p:nvSpPr>
        <p:spPr>
          <a:xfrm flipV="true">
            <a:off x="1028695" y="1760761"/>
            <a:ext cx="16230594" cy="38509"/>
          </a:xfrm>
          <a:prstGeom prst="line">
            <a:avLst/>
          </a:prstGeom>
          <a:ln cap="flat" w="9525">
            <a:solidFill>
              <a:srgbClr val="2B2C30"/>
            </a:solidFill>
            <a:prstDash val="solid"/>
            <a:headEnd type="none" len="sm" w="sm"/>
            <a:tailEnd type="none" len="sm" w="sm"/>
          </a:ln>
        </p:spPr>
      </p:sp>
      <p:sp>
        <p:nvSpPr>
          <p:cNvPr name="TextBox 3" id="3"/>
          <p:cNvSpPr txBox="true"/>
          <p:nvPr/>
        </p:nvSpPr>
        <p:spPr>
          <a:xfrm rot="0">
            <a:off x="1006871" y="942975"/>
            <a:ext cx="16230600" cy="651099"/>
          </a:xfrm>
          <a:prstGeom prst="rect">
            <a:avLst/>
          </a:prstGeom>
        </p:spPr>
        <p:txBody>
          <a:bodyPr anchor="t" rtlCol="false" tIns="0" lIns="0" bIns="0" rIns="0">
            <a:spAutoFit/>
          </a:bodyPr>
          <a:lstStyle/>
          <a:p>
            <a:pPr algn="l">
              <a:lnSpc>
                <a:spcPts val="5200"/>
              </a:lnSpc>
              <a:spcBef>
                <a:spcPct val="0"/>
              </a:spcBef>
            </a:pPr>
            <a:r>
              <a:rPr lang="en-US" b="true" sz="3714" spc="843">
                <a:solidFill>
                  <a:srgbClr val="2B2C30"/>
                </a:solidFill>
                <a:latin typeface="Public Sans Bold"/>
                <a:ea typeface="Public Sans Bold"/>
                <a:cs typeface="Public Sans Bold"/>
                <a:sym typeface="Public Sans Bold"/>
              </a:rPr>
              <a:t>AS YOU SAW</a:t>
            </a:r>
          </a:p>
        </p:txBody>
      </p:sp>
      <p:grpSp>
        <p:nvGrpSpPr>
          <p:cNvPr name="Group 4" id="4"/>
          <p:cNvGrpSpPr/>
          <p:nvPr/>
        </p:nvGrpSpPr>
        <p:grpSpPr>
          <a:xfrm rot="0">
            <a:off x="1016407" y="2312790"/>
            <a:ext cx="5146395" cy="2538095"/>
            <a:chOff x="0" y="0"/>
            <a:chExt cx="6861860" cy="3384127"/>
          </a:xfrm>
        </p:grpSpPr>
        <p:sp>
          <p:nvSpPr>
            <p:cNvPr name="TextBox 5" id="5"/>
            <p:cNvSpPr txBox="true"/>
            <p:nvPr/>
          </p:nvSpPr>
          <p:spPr>
            <a:xfrm rot="0">
              <a:off x="0" y="-66675"/>
              <a:ext cx="6861860" cy="632249"/>
            </a:xfrm>
            <a:prstGeom prst="rect">
              <a:avLst/>
            </a:prstGeom>
          </p:spPr>
          <p:txBody>
            <a:bodyPr anchor="t" rtlCol="false" tIns="0" lIns="0" bIns="0" rIns="0">
              <a:spAutoFit/>
            </a:bodyPr>
            <a:lstStyle/>
            <a:p>
              <a:pPr algn="l">
                <a:lnSpc>
                  <a:spcPts val="3919"/>
                </a:lnSpc>
              </a:pPr>
              <a:r>
                <a:rPr lang="en-US" sz="2799" b="true">
                  <a:solidFill>
                    <a:srgbClr val="2B2C30"/>
                  </a:solidFill>
                  <a:latin typeface="Public Sans Bold"/>
                  <a:ea typeface="Public Sans Bold"/>
                  <a:cs typeface="Public Sans Bold"/>
                  <a:sym typeface="Public Sans Bold"/>
                </a:rPr>
                <a:t>The Profiler</a:t>
              </a:r>
            </a:p>
          </p:txBody>
        </p:sp>
        <p:sp>
          <p:nvSpPr>
            <p:cNvPr name="TextBox 6" id="6"/>
            <p:cNvSpPr txBox="true"/>
            <p:nvPr/>
          </p:nvSpPr>
          <p:spPr>
            <a:xfrm rot="0">
              <a:off x="0" y="743374"/>
              <a:ext cx="6861860" cy="2640753"/>
            </a:xfrm>
            <a:prstGeom prst="rect">
              <a:avLst/>
            </a:prstGeom>
          </p:spPr>
          <p:txBody>
            <a:bodyPr anchor="t" rtlCol="false" tIns="0" lIns="0" bIns="0" rIns="0">
              <a:spAutoFit/>
            </a:bodyPr>
            <a:lstStyle/>
            <a:p>
              <a:pPr algn="l">
                <a:lnSpc>
                  <a:spcPts val="2659"/>
                </a:lnSpc>
              </a:pPr>
              <a:r>
                <a:rPr lang="en-US" sz="1899">
                  <a:solidFill>
                    <a:srgbClr val="2B2C30"/>
                  </a:solidFill>
                  <a:latin typeface="Public Sans"/>
                  <a:ea typeface="Public Sans"/>
                  <a:cs typeface="Public Sans"/>
                  <a:sym typeface="Public Sans"/>
                </a:rPr>
                <a:t>1) User Sends a Message</a:t>
              </a:r>
            </a:p>
            <a:p>
              <a:pPr algn="l">
                <a:lnSpc>
                  <a:spcPts val="2659"/>
                </a:lnSpc>
              </a:pPr>
              <a:r>
                <a:rPr lang="en-US" sz="1899">
                  <a:solidFill>
                    <a:srgbClr val="2B2C30"/>
                  </a:solidFill>
                  <a:latin typeface="Public Sans"/>
                  <a:ea typeface="Public Sans"/>
                  <a:cs typeface="Public Sans"/>
                  <a:sym typeface="Public Sans"/>
                </a:rPr>
                <a:t>2) Model analyzes it and spits out Json</a:t>
              </a:r>
            </a:p>
            <a:p>
              <a:pPr algn="l">
                <a:lnSpc>
                  <a:spcPts val="2659"/>
                </a:lnSpc>
              </a:pPr>
              <a:r>
                <a:rPr lang="en-US" sz="1899">
                  <a:solidFill>
                    <a:srgbClr val="2B2C30"/>
                  </a:solidFill>
                  <a:latin typeface="Public Sans"/>
                  <a:ea typeface="Public Sans"/>
                  <a:cs typeface="Public Sans"/>
                  <a:sym typeface="Public Sans"/>
                </a:rPr>
                <a:t>3) Json contains 0.0-1.0 values paired with diversity topics</a:t>
              </a:r>
            </a:p>
            <a:p>
              <a:pPr algn="l">
                <a:lnSpc>
                  <a:spcPts val="2659"/>
                </a:lnSpc>
              </a:pPr>
              <a:r>
                <a:rPr lang="en-US" sz="1899">
                  <a:solidFill>
                    <a:srgbClr val="2B2C30"/>
                  </a:solidFill>
                  <a:latin typeface="Public Sans"/>
                  <a:ea typeface="Public Sans"/>
                  <a:cs typeface="Public Sans"/>
                  <a:sym typeface="Public Sans"/>
                </a:rPr>
                <a:t>4) Json is sent to OpenAI with a system prompt</a:t>
              </a:r>
            </a:p>
          </p:txBody>
        </p:sp>
      </p:grpSp>
      <p:grpSp>
        <p:nvGrpSpPr>
          <p:cNvPr name="Group 7" id="7"/>
          <p:cNvGrpSpPr/>
          <p:nvPr/>
        </p:nvGrpSpPr>
        <p:grpSpPr>
          <a:xfrm rot="0">
            <a:off x="6553742" y="2312790"/>
            <a:ext cx="5146395" cy="1871345"/>
            <a:chOff x="0" y="0"/>
            <a:chExt cx="6861860" cy="2495127"/>
          </a:xfrm>
        </p:grpSpPr>
        <p:sp>
          <p:nvSpPr>
            <p:cNvPr name="TextBox 8" id="8"/>
            <p:cNvSpPr txBox="true"/>
            <p:nvPr/>
          </p:nvSpPr>
          <p:spPr>
            <a:xfrm rot="0">
              <a:off x="0" y="-66675"/>
              <a:ext cx="6861860" cy="632249"/>
            </a:xfrm>
            <a:prstGeom prst="rect">
              <a:avLst/>
            </a:prstGeom>
          </p:spPr>
          <p:txBody>
            <a:bodyPr anchor="t" rtlCol="false" tIns="0" lIns="0" bIns="0" rIns="0">
              <a:spAutoFit/>
            </a:bodyPr>
            <a:lstStyle/>
            <a:p>
              <a:pPr algn="l">
                <a:lnSpc>
                  <a:spcPts val="3919"/>
                </a:lnSpc>
              </a:pPr>
              <a:r>
                <a:rPr lang="en-US" sz="2799" b="true">
                  <a:solidFill>
                    <a:srgbClr val="2B2C30"/>
                  </a:solidFill>
                  <a:latin typeface="Public Sans Bold"/>
                  <a:ea typeface="Public Sans Bold"/>
                  <a:cs typeface="Public Sans Bold"/>
                  <a:sym typeface="Public Sans Bold"/>
                </a:rPr>
                <a:t>OpenAI</a:t>
              </a:r>
            </a:p>
          </p:txBody>
        </p:sp>
        <p:sp>
          <p:nvSpPr>
            <p:cNvPr name="TextBox 9" id="9"/>
            <p:cNvSpPr txBox="true"/>
            <p:nvPr/>
          </p:nvSpPr>
          <p:spPr>
            <a:xfrm rot="0">
              <a:off x="0" y="743374"/>
              <a:ext cx="6861860" cy="1751753"/>
            </a:xfrm>
            <a:prstGeom prst="rect">
              <a:avLst/>
            </a:prstGeom>
          </p:spPr>
          <p:txBody>
            <a:bodyPr anchor="t" rtlCol="false" tIns="0" lIns="0" bIns="0" rIns="0">
              <a:spAutoFit/>
            </a:bodyPr>
            <a:lstStyle/>
            <a:p>
              <a:pPr algn="l">
                <a:lnSpc>
                  <a:spcPts val="2659"/>
                </a:lnSpc>
              </a:pPr>
              <a:r>
                <a:rPr lang="en-US" sz="1899">
                  <a:solidFill>
                    <a:srgbClr val="2B2C30"/>
                  </a:solidFill>
                  <a:latin typeface="Public Sans"/>
                  <a:ea typeface="Public Sans"/>
                  <a:cs typeface="Public Sans"/>
                  <a:sym typeface="Public Sans"/>
                </a:rPr>
                <a:t>1) GPT-5 Nano takes Json and System Prompts</a:t>
              </a:r>
            </a:p>
            <a:p>
              <a:pPr algn="l">
                <a:lnSpc>
                  <a:spcPts val="2659"/>
                </a:lnSpc>
              </a:pPr>
              <a:r>
                <a:rPr lang="en-US" sz="1899">
                  <a:solidFill>
                    <a:srgbClr val="2B2C30"/>
                  </a:solidFill>
                  <a:latin typeface="Public Sans"/>
                  <a:ea typeface="Public Sans"/>
                  <a:cs typeface="Public Sans"/>
                  <a:sym typeface="Public Sans"/>
                </a:rPr>
                <a:t>2) Sends back a message</a:t>
              </a:r>
            </a:p>
            <a:p>
              <a:pPr algn="l">
                <a:lnSpc>
                  <a:spcPts val="2659"/>
                </a:lnSpc>
              </a:pPr>
              <a:r>
                <a:rPr lang="en-US" sz="1899">
                  <a:solidFill>
                    <a:srgbClr val="2B2C30"/>
                  </a:solidFill>
                  <a:latin typeface="Public Sans"/>
                  <a:ea typeface="Public Sans"/>
                  <a:cs typeface="Public Sans"/>
                  <a:sym typeface="Public Sans"/>
                </a:rPr>
                <a:t>3) Message is sent to the UI</a:t>
              </a:r>
            </a:p>
          </p:txBody>
        </p:sp>
      </p:grpSp>
      <p:grpSp>
        <p:nvGrpSpPr>
          <p:cNvPr name="Group 10" id="10"/>
          <p:cNvGrpSpPr/>
          <p:nvPr/>
        </p:nvGrpSpPr>
        <p:grpSpPr>
          <a:xfrm rot="0">
            <a:off x="12112905" y="2312790"/>
            <a:ext cx="5146395" cy="2204720"/>
            <a:chOff x="0" y="0"/>
            <a:chExt cx="6861860" cy="2939627"/>
          </a:xfrm>
        </p:grpSpPr>
        <p:sp>
          <p:nvSpPr>
            <p:cNvPr name="TextBox 11" id="11"/>
            <p:cNvSpPr txBox="true"/>
            <p:nvPr/>
          </p:nvSpPr>
          <p:spPr>
            <a:xfrm rot="0">
              <a:off x="0" y="-66675"/>
              <a:ext cx="6861860" cy="632249"/>
            </a:xfrm>
            <a:prstGeom prst="rect">
              <a:avLst/>
            </a:prstGeom>
          </p:spPr>
          <p:txBody>
            <a:bodyPr anchor="t" rtlCol="false" tIns="0" lIns="0" bIns="0" rIns="0">
              <a:spAutoFit/>
            </a:bodyPr>
            <a:lstStyle/>
            <a:p>
              <a:pPr algn="l">
                <a:lnSpc>
                  <a:spcPts val="3919"/>
                </a:lnSpc>
              </a:pPr>
              <a:r>
                <a:rPr lang="en-US" sz="2799" b="true">
                  <a:solidFill>
                    <a:srgbClr val="2B2C30"/>
                  </a:solidFill>
                  <a:latin typeface="Public Sans Bold"/>
                  <a:ea typeface="Public Sans Bold"/>
                  <a:cs typeface="Public Sans Bold"/>
                  <a:sym typeface="Public Sans Bold"/>
                </a:rPr>
                <a:t>Visual Debug Profiler</a:t>
              </a:r>
            </a:p>
          </p:txBody>
        </p:sp>
        <p:sp>
          <p:nvSpPr>
            <p:cNvPr name="TextBox 12" id="12"/>
            <p:cNvSpPr txBox="true"/>
            <p:nvPr/>
          </p:nvSpPr>
          <p:spPr>
            <a:xfrm rot="0">
              <a:off x="0" y="743374"/>
              <a:ext cx="6861860" cy="2196253"/>
            </a:xfrm>
            <a:prstGeom prst="rect">
              <a:avLst/>
            </a:prstGeom>
          </p:spPr>
          <p:txBody>
            <a:bodyPr anchor="t" rtlCol="false" tIns="0" lIns="0" bIns="0" rIns="0">
              <a:spAutoFit/>
            </a:bodyPr>
            <a:lstStyle/>
            <a:p>
              <a:pPr algn="l">
                <a:lnSpc>
                  <a:spcPts val="2659"/>
                </a:lnSpc>
              </a:pPr>
              <a:r>
                <a:rPr lang="en-US" sz="1899">
                  <a:solidFill>
                    <a:srgbClr val="2B2C30"/>
                  </a:solidFill>
                  <a:latin typeface="Public Sans"/>
                  <a:ea typeface="Public Sans"/>
                  <a:cs typeface="Public Sans"/>
                  <a:sym typeface="Public Sans"/>
                </a:rPr>
                <a:t>This is a debugger I made to better visualize what is going on in the back end during the chats. This has no direct interaction with the chatting, besides also being sent the Json values from the Profiler.</a:t>
              </a:r>
            </a:p>
          </p:txBody>
        </p:sp>
      </p:grpSp>
      <p:grpSp>
        <p:nvGrpSpPr>
          <p:cNvPr name="Group 13" id="13"/>
          <p:cNvGrpSpPr/>
          <p:nvPr/>
        </p:nvGrpSpPr>
        <p:grpSpPr>
          <a:xfrm rot="0">
            <a:off x="4589646" y="7581504"/>
            <a:ext cx="1583387" cy="1583387"/>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8C7753"/>
            </a:solidFill>
          </p:spPr>
        </p:sp>
        <p:sp>
          <p:nvSpPr>
            <p:cNvPr name="TextBox 15" id="15"/>
            <p:cNvSpPr txBox="true"/>
            <p:nvPr/>
          </p:nvSpPr>
          <p:spPr>
            <a:xfrm>
              <a:off x="0" y="-38100"/>
              <a:ext cx="812800" cy="850900"/>
            </a:xfrm>
            <a:prstGeom prst="rect">
              <a:avLst/>
            </a:prstGeom>
          </p:spPr>
          <p:txBody>
            <a:bodyPr anchor="ctr" rtlCol="false" tIns="50800" lIns="50800" bIns="50800" rIns="50800"/>
            <a:lstStyle/>
            <a:p>
              <a:pPr algn="ctr">
                <a:lnSpc>
                  <a:spcPts val="2659"/>
                </a:lnSpc>
              </a:pPr>
              <a:r>
                <a:rPr lang="en-US" sz="1899">
                  <a:solidFill>
                    <a:srgbClr val="000000"/>
                  </a:solidFill>
                  <a:latin typeface="Public Sans"/>
                  <a:ea typeface="Public Sans"/>
                  <a:cs typeface="Public Sans"/>
                  <a:sym typeface="Public Sans"/>
                </a:rPr>
                <a:t>User Sends a Message</a:t>
              </a:r>
            </a:p>
          </p:txBody>
        </p:sp>
      </p:grpSp>
      <p:grpSp>
        <p:nvGrpSpPr>
          <p:cNvPr name="Group 16" id="16"/>
          <p:cNvGrpSpPr/>
          <p:nvPr/>
        </p:nvGrpSpPr>
        <p:grpSpPr>
          <a:xfrm rot="0">
            <a:off x="4589646" y="5443141"/>
            <a:ext cx="1583387" cy="1583387"/>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8C7753"/>
            </a:solidFill>
          </p:spPr>
        </p:sp>
        <p:sp>
          <p:nvSpPr>
            <p:cNvPr name="TextBox 18" id="18"/>
            <p:cNvSpPr txBox="true"/>
            <p:nvPr/>
          </p:nvSpPr>
          <p:spPr>
            <a:xfrm>
              <a:off x="0" y="-38100"/>
              <a:ext cx="812800" cy="850900"/>
            </a:xfrm>
            <a:prstGeom prst="rect">
              <a:avLst/>
            </a:prstGeom>
          </p:spPr>
          <p:txBody>
            <a:bodyPr anchor="ctr" rtlCol="false" tIns="50800" lIns="50800" bIns="50800" rIns="50800"/>
            <a:lstStyle/>
            <a:p>
              <a:pPr algn="ctr">
                <a:lnSpc>
                  <a:spcPts val="2659"/>
                </a:lnSpc>
              </a:pPr>
              <a:r>
                <a:rPr lang="en-US" sz="1899">
                  <a:solidFill>
                    <a:srgbClr val="000000"/>
                  </a:solidFill>
                  <a:latin typeface="Public Sans"/>
                  <a:ea typeface="Public Sans"/>
                  <a:cs typeface="Public Sans"/>
                  <a:sym typeface="Public Sans"/>
                </a:rPr>
                <a:t>Sent to the UI</a:t>
              </a:r>
            </a:p>
          </p:txBody>
        </p:sp>
      </p:grpSp>
      <p:sp>
        <p:nvSpPr>
          <p:cNvPr name="Freeform 19" id="19"/>
          <p:cNvSpPr/>
          <p:nvPr/>
        </p:nvSpPr>
        <p:spPr>
          <a:xfrm>
            <a:off x="5381339" y="7026528"/>
            <a:ext cx="0" cy="277488"/>
          </a:xfrm>
          <a:custGeom>
            <a:avLst/>
            <a:gdLst/>
            <a:ahLst/>
            <a:cxnLst/>
            <a:rect r="r" b="b" t="t" l="l"/>
            <a:pathLst>
              <a:path h="277488" w="0">
                <a:moveTo>
                  <a:pt x="0" y="277488"/>
                </a:moveTo>
                <a:lnTo>
                  <a:pt x="0" y="0"/>
                </a:lnTo>
              </a:path>
            </a:pathLst>
          </a:custGeom>
          <a:ln cap="rnd" w="38100">
            <a:solidFill>
              <a:srgbClr val="ACB8C0"/>
            </a:solidFill>
            <a:prstDash val="solid"/>
            <a:headEnd type="none" len="sm" w="sm"/>
            <a:tailEnd type="arrow" len="sm" w="med"/>
          </a:ln>
        </p:spPr>
      </p:sp>
      <p:grpSp>
        <p:nvGrpSpPr>
          <p:cNvPr name="Group 20" id="20"/>
          <p:cNvGrpSpPr/>
          <p:nvPr/>
        </p:nvGrpSpPr>
        <p:grpSpPr>
          <a:xfrm rot="0">
            <a:off x="6935033" y="7310239"/>
            <a:ext cx="1583387" cy="2125916"/>
            <a:chOff x="0" y="0"/>
            <a:chExt cx="812800" cy="1091297"/>
          </a:xfrm>
        </p:grpSpPr>
        <p:sp>
          <p:nvSpPr>
            <p:cNvPr name="Freeform 21" id="21"/>
            <p:cNvSpPr/>
            <p:nvPr/>
          </p:nvSpPr>
          <p:spPr>
            <a:xfrm flipH="false" flipV="false" rot="0">
              <a:off x="0" y="0"/>
              <a:ext cx="812800" cy="1091297"/>
            </a:xfrm>
            <a:custGeom>
              <a:avLst/>
              <a:gdLst/>
              <a:ahLst/>
              <a:cxnLst/>
              <a:rect r="r" b="b" t="t" l="l"/>
              <a:pathLst>
                <a:path h="1091297" w="812800">
                  <a:moveTo>
                    <a:pt x="0" y="0"/>
                  </a:moveTo>
                  <a:lnTo>
                    <a:pt x="812800" y="0"/>
                  </a:lnTo>
                  <a:lnTo>
                    <a:pt x="812800" y="1091297"/>
                  </a:lnTo>
                  <a:lnTo>
                    <a:pt x="0" y="1091297"/>
                  </a:lnTo>
                  <a:close/>
                </a:path>
              </a:pathLst>
            </a:custGeom>
            <a:solidFill>
              <a:srgbClr val="8C7753"/>
            </a:solidFill>
          </p:spPr>
        </p:sp>
        <p:sp>
          <p:nvSpPr>
            <p:cNvPr name="TextBox 22" id="22"/>
            <p:cNvSpPr txBox="true"/>
            <p:nvPr/>
          </p:nvSpPr>
          <p:spPr>
            <a:xfrm>
              <a:off x="0" y="-38100"/>
              <a:ext cx="812800" cy="1129397"/>
            </a:xfrm>
            <a:prstGeom prst="rect">
              <a:avLst/>
            </a:prstGeom>
          </p:spPr>
          <p:txBody>
            <a:bodyPr anchor="ctr" rtlCol="false" tIns="50800" lIns="50800" bIns="50800" rIns="50800"/>
            <a:lstStyle/>
            <a:p>
              <a:pPr algn="ctr">
                <a:lnSpc>
                  <a:spcPts val="2659"/>
                </a:lnSpc>
              </a:pPr>
              <a:r>
                <a:rPr lang="en-US" sz="1899">
                  <a:solidFill>
                    <a:srgbClr val="000000"/>
                  </a:solidFill>
                  <a:latin typeface="Public Sans"/>
                  <a:ea typeface="Public Sans"/>
                  <a:cs typeface="Public Sans"/>
                  <a:sym typeface="Public Sans"/>
                </a:rPr>
                <a:t>User Message + System Prompt sent to the Profiler</a:t>
              </a:r>
            </a:p>
          </p:txBody>
        </p:sp>
      </p:grpSp>
      <p:sp>
        <p:nvSpPr>
          <p:cNvPr name="Freeform 23" id="23"/>
          <p:cNvSpPr/>
          <p:nvPr/>
        </p:nvSpPr>
        <p:spPr>
          <a:xfrm>
            <a:off x="6554033" y="8373197"/>
            <a:ext cx="381000" cy="0"/>
          </a:xfrm>
          <a:custGeom>
            <a:avLst/>
            <a:gdLst/>
            <a:ahLst/>
            <a:cxnLst/>
            <a:rect r="r" b="b" t="t" l="l"/>
            <a:pathLst>
              <a:path h="0" w="381000">
                <a:moveTo>
                  <a:pt x="0" y="0"/>
                </a:moveTo>
                <a:lnTo>
                  <a:pt x="381000" y="0"/>
                </a:lnTo>
              </a:path>
            </a:pathLst>
          </a:custGeom>
          <a:ln cap="rnd" w="38100">
            <a:solidFill>
              <a:srgbClr val="ACB8C0"/>
            </a:solidFill>
            <a:prstDash val="solid"/>
            <a:headEnd type="none" len="sm" w="sm"/>
            <a:tailEnd type="arrow" len="sm" w="med"/>
          </a:ln>
        </p:spPr>
      </p:sp>
      <p:grpSp>
        <p:nvGrpSpPr>
          <p:cNvPr name="Group 24" id="24"/>
          <p:cNvGrpSpPr/>
          <p:nvPr/>
        </p:nvGrpSpPr>
        <p:grpSpPr>
          <a:xfrm rot="0">
            <a:off x="9280420" y="7581504"/>
            <a:ext cx="1583387" cy="1583387"/>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8C7753"/>
            </a:solidFill>
          </p:spPr>
        </p:sp>
        <p:sp>
          <p:nvSpPr>
            <p:cNvPr name="TextBox 26" id="26"/>
            <p:cNvSpPr txBox="true"/>
            <p:nvPr/>
          </p:nvSpPr>
          <p:spPr>
            <a:xfrm>
              <a:off x="0" y="-38100"/>
              <a:ext cx="812800" cy="850900"/>
            </a:xfrm>
            <a:prstGeom prst="rect">
              <a:avLst/>
            </a:prstGeom>
          </p:spPr>
          <p:txBody>
            <a:bodyPr anchor="ctr" rtlCol="false" tIns="50800" lIns="50800" bIns="50800" rIns="50800"/>
            <a:lstStyle/>
            <a:p>
              <a:pPr algn="ctr">
                <a:lnSpc>
                  <a:spcPts val="2659"/>
                </a:lnSpc>
              </a:pPr>
              <a:r>
                <a:rPr lang="en-US" sz="1899">
                  <a:solidFill>
                    <a:srgbClr val="000000"/>
                  </a:solidFill>
                  <a:latin typeface="Public Sans"/>
                  <a:ea typeface="Public Sans"/>
                  <a:cs typeface="Public Sans"/>
                  <a:sym typeface="Public Sans"/>
                </a:rPr>
                <a:t>Profiler analyzes and outputs a Json</a:t>
              </a:r>
            </a:p>
          </p:txBody>
        </p:sp>
      </p:grpSp>
      <p:sp>
        <p:nvSpPr>
          <p:cNvPr name="Freeform 27" id="27"/>
          <p:cNvSpPr/>
          <p:nvPr/>
        </p:nvSpPr>
        <p:spPr>
          <a:xfrm>
            <a:off x="8899420" y="8373197"/>
            <a:ext cx="381000" cy="0"/>
          </a:xfrm>
          <a:custGeom>
            <a:avLst/>
            <a:gdLst/>
            <a:ahLst/>
            <a:cxnLst/>
            <a:rect r="r" b="b" t="t" l="l"/>
            <a:pathLst>
              <a:path h="0" w="381000">
                <a:moveTo>
                  <a:pt x="0" y="0"/>
                </a:moveTo>
                <a:lnTo>
                  <a:pt x="381000" y="0"/>
                </a:lnTo>
              </a:path>
            </a:pathLst>
          </a:custGeom>
          <a:ln cap="rnd" w="38100">
            <a:solidFill>
              <a:srgbClr val="ACB8C0"/>
            </a:solidFill>
            <a:prstDash val="solid"/>
            <a:headEnd type="none" len="sm" w="sm"/>
            <a:tailEnd type="arrow" len="sm" w="med"/>
          </a:ln>
        </p:spPr>
      </p:sp>
      <p:grpSp>
        <p:nvGrpSpPr>
          <p:cNvPr name="Group 28" id="28"/>
          <p:cNvGrpSpPr/>
          <p:nvPr/>
        </p:nvGrpSpPr>
        <p:grpSpPr>
          <a:xfrm rot="0">
            <a:off x="11755196" y="7476927"/>
            <a:ext cx="1583387" cy="1792541"/>
            <a:chOff x="0" y="0"/>
            <a:chExt cx="812800" cy="920165"/>
          </a:xfrm>
        </p:grpSpPr>
        <p:sp>
          <p:nvSpPr>
            <p:cNvPr name="Freeform 29" id="29"/>
            <p:cNvSpPr/>
            <p:nvPr/>
          </p:nvSpPr>
          <p:spPr>
            <a:xfrm flipH="false" flipV="false" rot="0">
              <a:off x="0" y="0"/>
              <a:ext cx="812800" cy="920165"/>
            </a:xfrm>
            <a:custGeom>
              <a:avLst/>
              <a:gdLst/>
              <a:ahLst/>
              <a:cxnLst/>
              <a:rect r="r" b="b" t="t" l="l"/>
              <a:pathLst>
                <a:path h="920165" w="812800">
                  <a:moveTo>
                    <a:pt x="0" y="0"/>
                  </a:moveTo>
                  <a:lnTo>
                    <a:pt x="812800" y="0"/>
                  </a:lnTo>
                  <a:lnTo>
                    <a:pt x="812800" y="920165"/>
                  </a:lnTo>
                  <a:lnTo>
                    <a:pt x="0" y="920165"/>
                  </a:lnTo>
                  <a:close/>
                </a:path>
              </a:pathLst>
            </a:custGeom>
            <a:solidFill>
              <a:srgbClr val="8C7753"/>
            </a:solidFill>
          </p:spPr>
        </p:sp>
        <p:sp>
          <p:nvSpPr>
            <p:cNvPr name="TextBox 30" id="30"/>
            <p:cNvSpPr txBox="true"/>
            <p:nvPr/>
          </p:nvSpPr>
          <p:spPr>
            <a:xfrm>
              <a:off x="0" y="-38100"/>
              <a:ext cx="812800" cy="958265"/>
            </a:xfrm>
            <a:prstGeom prst="rect">
              <a:avLst/>
            </a:prstGeom>
          </p:spPr>
          <p:txBody>
            <a:bodyPr anchor="ctr" rtlCol="false" tIns="50800" lIns="50800" bIns="50800" rIns="50800"/>
            <a:lstStyle/>
            <a:p>
              <a:pPr algn="ctr">
                <a:lnSpc>
                  <a:spcPts val="2659"/>
                </a:lnSpc>
              </a:pPr>
              <a:r>
                <a:rPr lang="en-US" sz="1899">
                  <a:solidFill>
                    <a:srgbClr val="000000"/>
                  </a:solidFill>
                  <a:latin typeface="Public Sans"/>
                  <a:ea typeface="Public Sans"/>
                  <a:cs typeface="Public Sans"/>
                  <a:sym typeface="Public Sans"/>
                </a:rPr>
                <a:t>Json + System Prompt is sent to OpenAI</a:t>
              </a:r>
            </a:p>
          </p:txBody>
        </p:sp>
      </p:grpSp>
      <p:sp>
        <p:nvSpPr>
          <p:cNvPr name="Freeform 31" id="31"/>
          <p:cNvSpPr/>
          <p:nvPr/>
        </p:nvSpPr>
        <p:spPr>
          <a:xfrm>
            <a:off x="11309501" y="8373197"/>
            <a:ext cx="445695" cy="0"/>
          </a:xfrm>
          <a:custGeom>
            <a:avLst/>
            <a:gdLst/>
            <a:ahLst/>
            <a:cxnLst/>
            <a:rect r="r" b="b" t="t" l="l"/>
            <a:pathLst>
              <a:path h="0" w="445695">
                <a:moveTo>
                  <a:pt x="0" y="0"/>
                </a:moveTo>
                <a:lnTo>
                  <a:pt x="445695" y="0"/>
                </a:lnTo>
              </a:path>
            </a:pathLst>
          </a:custGeom>
          <a:ln cap="rnd" w="38100">
            <a:solidFill>
              <a:srgbClr val="ACB8C0"/>
            </a:solidFill>
            <a:prstDash val="solid"/>
            <a:headEnd type="none" len="sm" w="sm"/>
            <a:tailEnd type="arrow" len="sm" w="med"/>
          </a:ln>
        </p:spPr>
      </p:sp>
      <p:grpSp>
        <p:nvGrpSpPr>
          <p:cNvPr name="Group 32" id="32"/>
          <p:cNvGrpSpPr/>
          <p:nvPr/>
        </p:nvGrpSpPr>
        <p:grpSpPr>
          <a:xfrm rot="0">
            <a:off x="11755196" y="5443141"/>
            <a:ext cx="1583387" cy="1583387"/>
            <a:chOff x="0" y="0"/>
            <a:chExt cx="812800" cy="812800"/>
          </a:xfrm>
        </p:grpSpPr>
        <p:sp>
          <p:nvSpPr>
            <p:cNvPr name="Freeform 33" id="33"/>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8C7753"/>
            </a:solidFill>
          </p:spPr>
        </p:sp>
        <p:sp>
          <p:nvSpPr>
            <p:cNvPr name="TextBox 34" id="34"/>
            <p:cNvSpPr txBox="true"/>
            <p:nvPr/>
          </p:nvSpPr>
          <p:spPr>
            <a:xfrm>
              <a:off x="0" y="-38100"/>
              <a:ext cx="812800" cy="850900"/>
            </a:xfrm>
            <a:prstGeom prst="rect">
              <a:avLst/>
            </a:prstGeom>
          </p:spPr>
          <p:txBody>
            <a:bodyPr anchor="ctr" rtlCol="false" tIns="50800" lIns="50800" bIns="50800" rIns="50800"/>
            <a:lstStyle/>
            <a:p>
              <a:pPr algn="ctr">
                <a:lnSpc>
                  <a:spcPts val="2659"/>
                </a:lnSpc>
              </a:pPr>
              <a:r>
                <a:rPr lang="en-US" sz="1899">
                  <a:solidFill>
                    <a:srgbClr val="000000"/>
                  </a:solidFill>
                  <a:latin typeface="Public Sans"/>
                  <a:ea typeface="Public Sans"/>
                  <a:cs typeface="Public Sans"/>
                  <a:sym typeface="Public Sans"/>
                </a:rPr>
                <a:t>OpenAI generates a response</a:t>
              </a:r>
            </a:p>
          </p:txBody>
        </p:sp>
      </p:grpSp>
      <p:sp>
        <p:nvSpPr>
          <p:cNvPr name="Freeform 35" id="35"/>
          <p:cNvSpPr/>
          <p:nvPr/>
        </p:nvSpPr>
        <p:spPr>
          <a:xfrm>
            <a:off x="12546889" y="7026528"/>
            <a:ext cx="0" cy="225199"/>
          </a:xfrm>
          <a:custGeom>
            <a:avLst/>
            <a:gdLst/>
            <a:ahLst/>
            <a:cxnLst/>
            <a:rect r="r" b="b" t="t" l="l"/>
            <a:pathLst>
              <a:path h="225199" w="0">
                <a:moveTo>
                  <a:pt x="0" y="225199"/>
                </a:moveTo>
                <a:lnTo>
                  <a:pt x="0" y="0"/>
                </a:lnTo>
              </a:path>
            </a:pathLst>
          </a:custGeom>
          <a:ln cap="rnd" w="38100">
            <a:solidFill>
              <a:srgbClr val="ACB8C0"/>
            </a:solidFill>
            <a:prstDash val="solid"/>
            <a:headEnd type="none" len="sm" w="sm"/>
            <a:tailEnd type="arrow" len="sm" w="med"/>
          </a:ln>
        </p:spPr>
      </p:sp>
      <p:sp>
        <p:nvSpPr>
          <p:cNvPr name="Freeform 36" id="36"/>
          <p:cNvSpPr/>
          <p:nvPr/>
        </p:nvSpPr>
        <p:spPr>
          <a:xfrm>
            <a:off x="6173033" y="6234834"/>
            <a:ext cx="2791081" cy="0"/>
          </a:xfrm>
          <a:custGeom>
            <a:avLst/>
            <a:gdLst/>
            <a:ahLst/>
            <a:cxnLst/>
            <a:rect r="r" b="b" t="t" l="l"/>
            <a:pathLst>
              <a:path h="0" w="2791081">
                <a:moveTo>
                  <a:pt x="2791081" y="0"/>
                </a:moveTo>
                <a:lnTo>
                  <a:pt x="0" y="0"/>
                </a:lnTo>
              </a:path>
            </a:pathLst>
          </a:custGeom>
          <a:ln cap="rnd" w="38100">
            <a:solidFill>
              <a:srgbClr val="ACB8C0"/>
            </a:solidFill>
            <a:prstDash val="solid"/>
            <a:headEnd type="none" len="sm" w="sm"/>
            <a:tailEnd type="arrow" len="sm" w="med"/>
          </a:ln>
        </p:spPr>
      </p:sp>
      <p:sp>
        <p:nvSpPr>
          <p:cNvPr name="TextBox 37" id="37"/>
          <p:cNvSpPr txBox="true"/>
          <p:nvPr/>
        </p:nvSpPr>
        <p:spPr>
          <a:xfrm rot="0">
            <a:off x="12698616" y="8984615"/>
            <a:ext cx="4560684" cy="273685"/>
          </a:xfrm>
          <a:prstGeom prst="rect">
            <a:avLst/>
          </a:prstGeom>
        </p:spPr>
        <p:txBody>
          <a:bodyPr anchor="t" rtlCol="false" tIns="0" lIns="0" bIns="0" rIns="0">
            <a:spAutoFit/>
          </a:bodyPr>
          <a:lstStyle/>
          <a:p>
            <a:pPr algn="r">
              <a:lnSpc>
                <a:spcPts val="2239"/>
              </a:lnSpc>
            </a:pPr>
            <a:r>
              <a:rPr lang="en-US" sz="1599">
                <a:solidFill>
                  <a:srgbClr val="331B0D"/>
                </a:solidFill>
                <a:latin typeface="Open Sauce"/>
                <a:ea typeface="Open Sauce"/>
                <a:cs typeface="Open Sauce"/>
                <a:sym typeface="Open Sauce"/>
              </a:rPr>
              <a:t>9</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FEEE7"/>
        </a:solidFill>
      </p:bgPr>
    </p:bg>
    <p:spTree>
      <p:nvGrpSpPr>
        <p:cNvPr id="1" name=""/>
        <p:cNvGrpSpPr/>
        <p:nvPr/>
      </p:nvGrpSpPr>
      <p:grpSpPr>
        <a:xfrm>
          <a:off x="0" y="0"/>
          <a:ext cx="0" cy="0"/>
          <a:chOff x="0" y="0"/>
          <a:chExt cx="0" cy="0"/>
        </a:xfrm>
      </p:grpSpPr>
      <p:sp>
        <p:nvSpPr>
          <p:cNvPr name="TextBox 2" id="2"/>
          <p:cNvSpPr txBox="true"/>
          <p:nvPr/>
        </p:nvSpPr>
        <p:spPr>
          <a:xfrm rot="0">
            <a:off x="1006871" y="942975"/>
            <a:ext cx="16230600" cy="651099"/>
          </a:xfrm>
          <a:prstGeom prst="rect">
            <a:avLst/>
          </a:prstGeom>
        </p:spPr>
        <p:txBody>
          <a:bodyPr anchor="t" rtlCol="false" tIns="0" lIns="0" bIns="0" rIns="0">
            <a:spAutoFit/>
          </a:bodyPr>
          <a:lstStyle/>
          <a:p>
            <a:pPr algn="l">
              <a:lnSpc>
                <a:spcPts val="5200"/>
              </a:lnSpc>
              <a:spcBef>
                <a:spcPct val="0"/>
              </a:spcBef>
            </a:pPr>
            <a:r>
              <a:rPr lang="en-US" b="true" sz="3714" spc="843">
                <a:solidFill>
                  <a:srgbClr val="2B2C30"/>
                </a:solidFill>
                <a:latin typeface="Public Sans Bold"/>
                <a:ea typeface="Public Sans Bold"/>
                <a:cs typeface="Public Sans Bold"/>
                <a:sym typeface="Public Sans Bold"/>
              </a:rPr>
              <a:t>PRELIMINARY</a:t>
            </a:r>
          </a:p>
        </p:txBody>
      </p:sp>
      <p:sp>
        <p:nvSpPr>
          <p:cNvPr name="AutoShape 3" id="3"/>
          <p:cNvSpPr/>
          <p:nvPr/>
        </p:nvSpPr>
        <p:spPr>
          <a:xfrm flipV="true">
            <a:off x="-7086597" y="1760761"/>
            <a:ext cx="16230594" cy="38509"/>
          </a:xfrm>
          <a:prstGeom prst="line">
            <a:avLst/>
          </a:prstGeom>
          <a:ln cap="flat" w="9525">
            <a:solidFill>
              <a:srgbClr val="2B2C30"/>
            </a:solidFill>
            <a:prstDash val="solid"/>
            <a:headEnd type="none" len="sm" w="sm"/>
            <a:tailEnd type="none" len="sm" w="sm"/>
          </a:ln>
        </p:spPr>
      </p:sp>
      <p:grpSp>
        <p:nvGrpSpPr>
          <p:cNvPr name="Group 4" id="4"/>
          <p:cNvGrpSpPr/>
          <p:nvPr/>
        </p:nvGrpSpPr>
        <p:grpSpPr>
          <a:xfrm rot="0">
            <a:off x="9722567" y="1028700"/>
            <a:ext cx="7773804" cy="5063759"/>
            <a:chOff x="0" y="0"/>
            <a:chExt cx="2364475" cy="1540189"/>
          </a:xfrm>
        </p:grpSpPr>
        <p:sp>
          <p:nvSpPr>
            <p:cNvPr name="Freeform 5" id="5"/>
            <p:cNvSpPr/>
            <p:nvPr/>
          </p:nvSpPr>
          <p:spPr>
            <a:xfrm flipH="false" flipV="false" rot="0">
              <a:off x="0" y="0"/>
              <a:ext cx="2364475" cy="1540190"/>
            </a:xfrm>
            <a:custGeom>
              <a:avLst/>
              <a:gdLst/>
              <a:ahLst/>
              <a:cxnLst/>
              <a:rect r="r" b="b" t="t" l="l"/>
              <a:pathLst>
                <a:path h="1540190" w="2364475">
                  <a:moveTo>
                    <a:pt x="0" y="0"/>
                  </a:moveTo>
                  <a:lnTo>
                    <a:pt x="2364475" y="0"/>
                  </a:lnTo>
                  <a:lnTo>
                    <a:pt x="2364475" y="1540190"/>
                  </a:lnTo>
                  <a:lnTo>
                    <a:pt x="0" y="1540190"/>
                  </a:lnTo>
                  <a:close/>
                </a:path>
              </a:pathLst>
            </a:custGeom>
            <a:ln w="9525" cap="sq">
              <a:solidFill>
                <a:srgbClr val="2B2C30"/>
              </a:solidFill>
              <a:prstDash val="solid"/>
              <a:miter/>
            </a:ln>
          </p:spPr>
        </p:sp>
        <p:sp>
          <p:nvSpPr>
            <p:cNvPr name="TextBox 6" id="6"/>
            <p:cNvSpPr txBox="true"/>
            <p:nvPr/>
          </p:nvSpPr>
          <p:spPr>
            <a:xfrm>
              <a:off x="0" y="-28575"/>
              <a:ext cx="2364475" cy="1568764"/>
            </a:xfrm>
            <a:prstGeom prst="rect">
              <a:avLst/>
            </a:prstGeom>
          </p:spPr>
          <p:txBody>
            <a:bodyPr anchor="ctr" rtlCol="false" tIns="68580" lIns="68580" bIns="68580" rIns="68580"/>
            <a:lstStyle/>
            <a:p>
              <a:pPr algn="ctr">
                <a:lnSpc>
                  <a:spcPts val="1889"/>
                </a:lnSpc>
              </a:pPr>
            </a:p>
          </p:txBody>
        </p:sp>
      </p:grpSp>
      <p:grpSp>
        <p:nvGrpSpPr>
          <p:cNvPr name="Group 7" id="7"/>
          <p:cNvGrpSpPr/>
          <p:nvPr/>
        </p:nvGrpSpPr>
        <p:grpSpPr>
          <a:xfrm rot="0">
            <a:off x="10333265" y="1402038"/>
            <a:ext cx="6552408" cy="4317083"/>
            <a:chOff x="0" y="0"/>
            <a:chExt cx="8736544" cy="5756111"/>
          </a:xfrm>
        </p:grpSpPr>
        <p:pic>
          <p:nvPicPr>
            <p:cNvPr name="Picture 8" id="8"/>
            <p:cNvPicPr>
              <a:picLocks noChangeAspect="true"/>
            </p:cNvPicPr>
            <p:nvPr/>
          </p:nvPicPr>
          <p:blipFill>
            <a:blip r:embed="rId2"/>
            <a:srcRect l="0" t="555" r="0" b="555"/>
            <a:stretch>
              <a:fillRect/>
            </a:stretch>
          </p:blipFill>
          <p:spPr>
            <a:xfrm flipH="false" flipV="false">
              <a:off x="0" y="0"/>
              <a:ext cx="8736544" cy="5756111"/>
            </a:xfrm>
            <a:prstGeom prst="rect">
              <a:avLst/>
            </a:prstGeom>
          </p:spPr>
        </p:pic>
      </p:grpSp>
      <p:sp>
        <p:nvSpPr>
          <p:cNvPr name="TextBox 9" id="9"/>
          <p:cNvSpPr txBox="true"/>
          <p:nvPr/>
        </p:nvSpPr>
        <p:spPr>
          <a:xfrm rot="0">
            <a:off x="1028689" y="2227065"/>
            <a:ext cx="7877184" cy="1026795"/>
          </a:xfrm>
          <a:prstGeom prst="rect">
            <a:avLst/>
          </a:prstGeom>
        </p:spPr>
        <p:txBody>
          <a:bodyPr anchor="t" rtlCol="false" tIns="0" lIns="0" bIns="0" rIns="0">
            <a:spAutoFit/>
          </a:bodyPr>
          <a:lstStyle/>
          <a:p>
            <a:pPr algn="l" marL="604519" indent="-302260" lvl="1">
              <a:lnSpc>
                <a:spcPts val="4199"/>
              </a:lnSpc>
              <a:buFont typeface="Arial"/>
              <a:buChar char="•"/>
            </a:pPr>
            <a:r>
              <a:rPr lang="en-US" sz="2799">
                <a:solidFill>
                  <a:srgbClr val="2B2C30"/>
                </a:solidFill>
                <a:latin typeface="Public Sans"/>
                <a:ea typeface="Public Sans"/>
                <a:cs typeface="Public Sans"/>
                <a:sym typeface="Public Sans"/>
              </a:rPr>
              <a:t>Trained by and finetuned on a Qwen-3-1.7B Model, all through Google Colab</a:t>
            </a:r>
          </a:p>
        </p:txBody>
      </p:sp>
      <p:sp>
        <p:nvSpPr>
          <p:cNvPr name="TextBox 10" id="10"/>
          <p:cNvSpPr txBox="true"/>
          <p:nvPr/>
        </p:nvSpPr>
        <p:spPr>
          <a:xfrm rot="0">
            <a:off x="1006871" y="3330060"/>
            <a:ext cx="7877184" cy="1026795"/>
          </a:xfrm>
          <a:prstGeom prst="rect">
            <a:avLst/>
          </a:prstGeom>
        </p:spPr>
        <p:txBody>
          <a:bodyPr anchor="t" rtlCol="false" tIns="0" lIns="0" bIns="0" rIns="0">
            <a:spAutoFit/>
          </a:bodyPr>
          <a:lstStyle/>
          <a:p>
            <a:pPr algn="l" marL="604519" indent="-302260" lvl="1">
              <a:lnSpc>
                <a:spcPts val="4199"/>
              </a:lnSpc>
              <a:buFont typeface="Arial"/>
              <a:buChar char="•"/>
            </a:pPr>
            <a:r>
              <a:rPr lang="en-US" sz="2799">
                <a:solidFill>
                  <a:srgbClr val="2B2C30"/>
                </a:solidFill>
                <a:latin typeface="Public Sans"/>
                <a:ea typeface="Public Sans"/>
                <a:cs typeface="Public Sans"/>
                <a:sym typeface="Public Sans"/>
              </a:rPr>
              <a:t>Generated a dataset size of 5000/500/100 of Train/Validation/Test in Json</a:t>
            </a:r>
          </a:p>
        </p:txBody>
      </p:sp>
      <p:sp>
        <p:nvSpPr>
          <p:cNvPr name="TextBox 11" id="11"/>
          <p:cNvSpPr txBox="true"/>
          <p:nvPr/>
        </p:nvSpPr>
        <p:spPr>
          <a:xfrm rot="0">
            <a:off x="1006871" y="4433055"/>
            <a:ext cx="7877184" cy="502920"/>
          </a:xfrm>
          <a:prstGeom prst="rect">
            <a:avLst/>
          </a:prstGeom>
        </p:spPr>
        <p:txBody>
          <a:bodyPr anchor="t" rtlCol="false" tIns="0" lIns="0" bIns="0" rIns="0">
            <a:spAutoFit/>
          </a:bodyPr>
          <a:lstStyle/>
          <a:p>
            <a:pPr algn="l" marL="604519" indent="-302260" lvl="1">
              <a:lnSpc>
                <a:spcPts val="4199"/>
              </a:lnSpc>
              <a:buFont typeface="Arial"/>
              <a:buChar char="•"/>
            </a:pPr>
            <a:r>
              <a:rPr lang="en-US" sz="2799">
                <a:solidFill>
                  <a:srgbClr val="2B2C30"/>
                </a:solidFill>
                <a:latin typeface="Public Sans"/>
                <a:ea typeface="Public Sans"/>
                <a:cs typeface="Public Sans"/>
                <a:sym typeface="Public Sans"/>
              </a:rPr>
              <a:t>Quantized to a Q4_K_M format</a:t>
            </a:r>
          </a:p>
        </p:txBody>
      </p:sp>
      <p:sp>
        <p:nvSpPr>
          <p:cNvPr name="TextBox 12" id="12"/>
          <p:cNvSpPr txBox="true"/>
          <p:nvPr/>
        </p:nvSpPr>
        <p:spPr>
          <a:xfrm rot="0">
            <a:off x="1006871" y="5012175"/>
            <a:ext cx="7877184" cy="502920"/>
          </a:xfrm>
          <a:prstGeom prst="rect">
            <a:avLst/>
          </a:prstGeom>
        </p:spPr>
        <p:txBody>
          <a:bodyPr anchor="t" rtlCol="false" tIns="0" lIns="0" bIns="0" rIns="0">
            <a:spAutoFit/>
          </a:bodyPr>
          <a:lstStyle/>
          <a:p>
            <a:pPr algn="l" marL="604519" indent="-302260" lvl="1">
              <a:lnSpc>
                <a:spcPts val="4199"/>
              </a:lnSpc>
              <a:buFont typeface="Arial"/>
              <a:buChar char="•"/>
            </a:pPr>
            <a:r>
              <a:rPr lang="en-US" sz="2799">
                <a:solidFill>
                  <a:srgbClr val="2B2C30"/>
                </a:solidFill>
                <a:latin typeface="Public Sans"/>
                <a:ea typeface="Public Sans"/>
                <a:cs typeface="Public Sans"/>
                <a:sym typeface="Public Sans"/>
              </a:rPr>
              <a:t>Integrated into Unity using LlamaSharp</a:t>
            </a:r>
          </a:p>
        </p:txBody>
      </p:sp>
      <p:sp>
        <p:nvSpPr>
          <p:cNvPr name="TextBox 13" id="13"/>
          <p:cNvSpPr txBox="true"/>
          <p:nvPr/>
        </p:nvSpPr>
        <p:spPr>
          <a:xfrm rot="0">
            <a:off x="12698616" y="8984615"/>
            <a:ext cx="4560684" cy="273685"/>
          </a:xfrm>
          <a:prstGeom prst="rect">
            <a:avLst/>
          </a:prstGeom>
        </p:spPr>
        <p:txBody>
          <a:bodyPr anchor="t" rtlCol="false" tIns="0" lIns="0" bIns="0" rIns="0">
            <a:spAutoFit/>
          </a:bodyPr>
          <a:lstStyle/>
          <a:p>
            <a:pPr algn="r">
              <a:lnSpc>
                <a:spcPts val="2239"/>
              </a:lnSpc>
            </a:pPr>
            <a:r>
              <a:rPr lang="en-US" sz="1599">
                <a:solidFill>
                  <a:srgbClr val="331B0D"/>
                </a:solidFill>
                <a:latin typeface="Open Sauce"/>
                <a:ea typeface="Open Sauce"/>
                <a:cs typeface="Open Sauce"/>
                <a:sym typeface="Open Sauce"/>
              </a:rPr>
              <a:t>10</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EFEEE7"/>
        </a:solidFill>
      </p:bgPr>
    </p:bg>
    <p:spTree>
      <p:nvGrpSpPr>
        <p:cNvPr id="1" name=""/>
        <p:cNvGrpSpPr/>
        <p:nvPr/>
      </p:nvGrpSpPr>
      <p:grpSpPr>
        <a:xfrm>
          <a:off x="0" y="0"/>
          <a:ext cx="0" cy="0"/>
          <a:chOff x="0" y="0"/>
          <a:chExt cx="0" cy="0"/>
        </a:xfrm>
      </p:grpSpPr>
      <p:sp>
        <p:nvSpPr>
          <p:cNvPr name="TextBox 2" id="2"/>
          <p:cNvSpPr txBox="true"/>
          <p:nvPr/>
        </p:nvSpPr>
        <p:spPr>
          <a:xfrm rot="0">
            <a:off x="1006871" y="942975"/>
            <a:ext cx="16230600" cy="651099"/>
          </a:xfrm>
          <a:prstGeom prst="rect">
            <a:avLst/>
          </a:prstGeom>
        </p:spPr>
        <p:txBody>
          <a:bodyPr anchor="t" rtlCol="false" tIns="0" lIns="0" bIns="0" rIns="0">
            <a:spAutoFit/>
          </a:bodyPr>
          <a:lstStyle/>
          <a:p>
            <a:pPr algn="l">
              <a:lnSpc>
                <a:spcPts val="5200"/>
              </a:lnSpc>
              <a:spcBef>
                <a:spcPct val="0"/>
              </a:spcBef>
            </a:pPr>
            <a:r>
              <a:rPr lang="en-US" b="true" sz="3714" spc="843">
                <a:solidFill>
                  <a:srgbClr val="2B2C30"/>
                </a:solidFill>
                <a:latin typeface="Public Sans Bold"/>
                <a:ea typeface="Public Sans Bold"/>
                <a:cs typeface="Public Sans Bold"/>
                <a:sym typeface="Public Sans Bold"/>
              </a:rPr>
              <a:t>DATA DIVERSITY</a:t>
            </a:r>
          </a:p>
        </p:txBody>
      </p:sp>
      <p:sp>
        <p:nvSpPr>
          <p:cNvPr name="AutoShape 3" id="3"/>
          <p:cNvSpPr/>
          <p:nvPr/>
        </p:nvSpPr>
        <p:spPr>
          <a:xfrm flipV="true">
            <a:off x="-7086597" y="1760761"/>
            <a:ext cx="16230594" cy="38509"/>
          </a:xfrm>
          <a:prstGeom prst="line">
            <a:avLst/>
          </a:prstGeom>
          <a:ln cap="flat" w="9525">
            <a:solidFill>
              <a:srgbClr val="2B2C30"/>
            </a:solidFill>
            <a:prstDash val="solid"/>
            <a:headEnd type="none" len="sm" w="sm"/>
            <a:tailEnd type="none" len="sm" w="sm"/>
          </a:ln>
        </p:spPr>
      </p:sp>
      <p:grpSp>
        <p:nvGrpSpPr>
          <p:cNvPr name="Group 4" id="4"/>
          <p:cNvGrpSpPr/>
          <p:nvPr/>
        </p:nvGrpSpPr>
        <p:grpSpPr>
          <a:xfrm rot="0">
            <a:off x="9722567" y="1028700"/>
            <a:ext cx="7773804" cy="5063759"/>
            <a:chOff x="0" y="0"/>
            <a:chExt cx="2364475" cy="1540189"/>
          </a:xfrm>
        </p:grpSpPr>
        <p:sp>
          <p:nvSpPr>
            <p:cNvPr name="Freeform 5" id="5"/>
            <p:cNvSpPr/>
            <p:nvPr/>
          </p:nvSpPr>
          <p:spPr>
            <a:xfrm flipH="false" flipV="false" rot="0">
              <a:off x="0" y="0"/>
              <a:ext cx="2364475" cy="1540190"/>
            </a:xfrm>
            <a:custGeom>
              <a:avLst/>
              <a:gdLst/>
              <a:ahLst/>
              <a:cxnLst/>
              <a:rect r="r" b="b" t="t" l="l"/>
              <a:pathLst>
                <a:path h="1540190" w="2364475">
                  <a:moveTo>
                    <a:pt x="0" y="0"/>
                  </a:moveTo>
                  <a:lnTo>
                    <a:pt x="2364475" y="0"/>
                  </a:lnTo>
                  <a:lnTo>
                    <a:pt x="2364475" y="1540190"/>
                  </a:lnTo>
                  <a:lnTo>
                    <a:pt x="0" y="1540190"/>
                  </a:lnTo>
                  <a:close/>
                </a:path>
              </a:pathLst>
            </a:custGeom>
            <a:ln w="9525" cap="sq">
              <a:solidFill>
                <a:srgbClr val="2B2C30"/>
              </a:solidFill>
              <a:prstDash val="solid"/>
              <a:miter/>
            </a:ln>
          </p:spPr>
        </p:sp>
        <p:sp>
          <p:nvSpPr>
            <p:cNvPr name="TextBox 6" id="6"/>
            <p:cNvSpPr txBox="true"/>
            <p:nvPr/>
          </p:nvSpPr>
          <p:spPr>
            <a:xfrm>
              <a:off x="0" y="-28575"/>
              <a:ext cx="2364475" cy="1568764"/>
            </a:xfrm>
            <a:prstGeom prst="rect">
              <a:avLst/>
            </a:prstGeom>
          </p:spPr>
          <p:txBody>
            <a:bodyPr anchor="ctr" rtlCol="false" tIns="68580" lIns="68580" bIns="68580" rIns="68580"/>
            <a:lstStyle/>
            <a:p>
              <a:pPr algn="ctr">
                <a:lnSpc>
                  <a:spcPts val="1889"/>
                </a:lnSpc>
              </a:pPr>
            </a:p>
          </p:txBody>
        </p:sp>
      </p:grpSp>
      <p:grpSp>
        <p:nvGrpSpPr>
          <p:cNvPr name="Group 7" id="7"/>
          <p:cNvGrpSpPr/>
          <p:nvPr/>
        </p:nvGrpSpPr>
        <p:grpSpPr>
          <a:xfrm rot="0">
            <a:off x="10333265" y="1402038"/>
            <a:ext cx="6552408" cy="4317083"/>
            <a:chOff x="0" y="0"/>
            <a:chExt cx="8736544" cy="5756111"/>
          </a:xfrm>
        </p:grpSpPr>
        <p:pic>
          <p:nvPicPr>
            <p:cNvPr name="Picture 8" id="8"/>
            <p:cNvPicPr>
              <a:picLocks noChangeAspect="true"/>
            </p:cNvPicPr>
            <p:nvPr/>
          </p:nvPicPr>
          <p:blipFill>
            <a:blip r:embed="rId2"/>
            <a:srcRect l="0" t="555" r="0" b="555"/>
            <a:stretch>
              <a:fillRect/>
            </a:stretch>
          </p:blipFill>
          <p:spPr>
            <a:xfrm flipH="false" flipV="false">
              <a:off x="0" y="0"/>
              <a:ext cx="8736544" cy="5756111"/>
            </a:xfrm>
            <a:prstGeom prst="rect">
              <a:avLst/>
            </a:prstGeom>
          </p:spPr>
        </p:pic>
      </p:grpSp>
      <p:sp>
        <p:nvSpPr>
          <p:cNvPr name="TextBox 9" id="9"/>
          <p:cNvSpPr txBox="true"/>
          <p:nvPr/>
        </p:nvSpPr>
        <p:spPr>
          <a:xfrm rot="0">
            <a:off x="1006871" y="2194114"/>
            <a:ext cx="7877184" cy="7313295"/>
          </a:xfrm>
          <a:prstGeom prst="rect">
            <a:avLst/>
          </a:prstGeom>
        </p:spPr>
        <p:txBody>
          <a:bodyPr anchor="t" rtlCol="false" tIns="0" lIns="0" bIns="0" rIns="0">
            <a:spAutoFit/>
          </a:bodyPr>
          <a:lstStyle/>
          <a:p>
            <a:pPr algn="l">
              <a:lnSpc>
                <a:spcPts val="4199"/>
              </a:lnSpc>
            </a:pPr>
            <a:r>
              <a:rPr lang="en-US" sz="2799">
                <a:solidFill>
                  <a:srgbClr val="2B2C30"/>
                </a:solidFill>
                <a:latin typeface="Public Sans"/>
                <a:ea typeface="Public Sans"/>
                <a:cs typeface="Public Sans"/>
                <a:sym typeface="Public Sans"/>
              </a:rPr>
              <a:t>COMMUNICATION_STYLES = [</a:t>
            </a:r>
          </a:p>
          <a:p>
            <a:pPr algn="l">
              <a:lnSpc>
                <a:spcPts val="4199"/>
              </a:lnSpc>
            </a:pPr>
            <a:r>
              <a:rPr lang="en-US" sz="2799">
                <a:solidFill>
                  <a:srgbClr val="2B2C30"/>
                </a:solidFill>
                <a:latin typeface="Public Sans"/>
                <a:ea typeface="Public Sans"/>
                <a:cs typeface="Public Sans"/>
                <a:sym typeface="Public Sans"/>
              </a:rPr>
              <a:t>  "casual slang",</a:t>
            </a:r>
          </a:p>
          <a:p>
            <a:pPr algn="l">
              <a:lnSpc>
                <a:spcPts val="4199"/>
              </a:lnSpc>
            </a:pPr>
            <a:r>
              <a:rPr lang="en-US" sz="2799">
                <a:solidFill>
                  <a:srgbClr val="2B2C30"/>
                </a:solidFill>
                <a:latin typeface="Public Sans"/>
                <a:ea typeface="Public Sans"/>
                <a:cs typeface="Public Sans"/>
                <a:sym typeface="Public Sans"/>
              </a:rPr>
              <a:t>  "neutral",</a:t>
            </a:r>
          </a:p>
          <a:p>
            <a:pPr algn="l">
              <a:lnSpc>
                <a:spcPts val="4199"/>
              </a:lnSpc>
            </a:pPr>
            <a:r>
              <a:rPr lang="en-US" sz="2799">
                <a:solidFill>
                  <a:srgbClr val="2B2C30"/>
                </a:solidFill>
                <a:latin typeface="Public Sans"/>
                <a:ea typeface="Public Sans"/>
                <a:cs typeface="Public Sans"/>
                <a:sym typeface="Public Sans"/>
              </a:rPr>
              <a:t>  "formal",</a:t>
            </a:r>
          </a:p>
          <a:p>
            <a:pPr algn="l">
              <a:lnSpc>
                <a:spcPts val="4199"/>
              </a:lnSpc>
            </a:pPr>
            <a:r>
              <a:rPr lang="en-US" sz="2799">
                <a:solidFill>
                  <a:srgbClr val="2B2C30"/>
                </a:solidFill>
                <a:latin typeface="Public Sans"/>
                <a:ea typeface="Public Sans"/>
                <a:cs typeface="Public Sans"/>
                <a:sym typeface="Public Sans"/>
              </a:rPr>
              <a:t>  "terse",</a:t>
            </a:r>
          </a:p>
          <a:p>
            <a:pPr algn="l">
              <a:lnSpc>
                <a:spcPts val="4199"/>
              </a:lnSpc>
            </a:pPr>
            <a:r>
              <a:rPr lang="en-US" sz="2799">
                <a:solidFill>
                  <a:srgbClr val="2B2C30"/>
                </a:solidFill>
                <a:latin typeface="Public Sans"/>
                <a:ea typeface="Public Sans"/>
                <a:cs typeface="Public Sans"/>
                <a:sym typeface="Public Sans"/>
              </a:rPr>
              <a:t>  "expressive",</a:t>
            </a:r>
          </a:p>
          <a:p>
            <a:pPr algn="l">
              <a:lnSpc>
                <a:spcPts val="4199"/>
              </a:lnSpc>
            </a:pPr>
            <a:r>
              <a:rPr lang="en-US" sz="2799">
                <a:solidFill>
                  <a:srgbClr val="2B2C30"/>
                </a:solidFill>
                <a:latin typeface="Public Sans"/>
                <a:ea typeface="Public Sans"/>
                <a:cs typeface="Public Sans"/>
                <a:sym typeface="Public Sans"/>
              </a:rPr>
              <a:t>  "sarcastic",</a:t>
            </a:r>
          </a:p>
          <a:p>
            <a:pPr algn="l">
              <a:lnSpc>
                <a:spcPts val="4199"/>
              </a:lnSpc>
            </a:pPr>
            <a:r>
              <a:rPr lang="en-US" sz="2799">
                <a:solidFill>
                  <a:srgbClr val="2B2C30"/>
                </a:solidFill>
                <a:latin typeface="Public Sans"/>
                <a:ea typeface="Public Sans"/>
                <a:cs typeface="Public Sans"/>
                <a:sym typeface="Public Sans"/>
              </a:rPr>
              <a:t>  "confused",</a:t>
            </a:r>
          </a:p>
          <a:p>
            <a:pPr algn="l">
              <a:lnSpc>
                <a:spcPts val="4199"/>
              </a:lnSpc>
            </a:pPr>
            <a:r>
              <a:rPr lang="en-US" sz="2799">
                <a:solidFill>
                  <a:srgbClr val="2B2C30"/>
                </a:solidFill>
                <a:latin typeface="Public Sans"/>
                <a:ea typeface="Public Sans"/>
                <a:cs typeface="Public Sans"/>
                <a:sym typeface="Public Sans"/>
              </a:rPr>
              <a:t>  "curious",</a:t>
            </a:r>
          </a:p>
          <a:p>
            <a:pPr algn="l">
              <a:lnSpc>
                <a:spcPts val="4199"/>
              </a:lnSpc>
            </a:pPr>
            <a:r>
              <a:rPr lang="en-US" sz="2799">
                <a:solidFill>
                  <a:srgbClr val="2B2C30"/>
                </a:solidFill>
                <a:latin typeface="Public Sans"/>
                <a:ea typeface="Public Sans"/>
                <a:cs typeface="Public Sans"/>
                <a:sym typeface="Public Sans"/>
              </a:rPr>
              <a:t>  "impatient",</a:t>
            </a:r>
          </a:p>
          <a:p>
            <a:pPr algn="l">
              <a:lnSpc>
                <a:spcPts val="4199"/>
              </a:lnSpc>
            </a:pPr>
            <a:r>
              <a:rPr lang="en-US" sz="2799">
                <a:solidFill>
                  <a:srgbClr val="2B2C30"/>
                </a:solidFill>
                <a:latin typeface="Public Sans"/>
                <a:ea typeface="Public Sans"/>
                <a:cs typeface="Public Sans"/>
                <a:sym typeface="Public Sans"/>
              </a:rPr>
              <a:t>  "friendly"</a:t>
            </a:r>
          </a:p>
          <a:p>
            <a:pPr algn="l">
              <a:lnSpc>
                <a:spcPts val="4199"/>
              </a:lnSpc>
            </a:pPr>
            <a:r>
              <a:rPr lang="en-US" sz="2799">
                <a:solidFill>
                  <a:srgbClr val="2B2C30"/>
                </a:solidFill>
                <a:latin typeface="Public Sans"/>
                <a:ea typeface="Public Sans"/>
                <a:cs typeface="Public Sans"/>
                <a:sym typeface="Public Sans"/>
              </a:rPr>
              <a:t>]</a:t>
            </a:r>
          </a:p>
          <a:p>
            <a:pPr algn="l">
              <a:lnSpc>
                <a:spcPts val="4199"/>
              </a:lnSpc>
            </a:pPr>
          </a:p>
          <a:p>
            <a:pPr algn="l">
              <a:lnSpc>
                <a:spcPts val="4199"/>
              </a:lnSpc>
            </a:pPr>
          </a:p>
        </p:txBody>
      </p:sp>
      <p:sp>
        <p:nvSpPr>
          <p:cNvPr name="TextBox 10" id="10"/>
          <p:cNvSpPr txBox="true"/>
          <p:nvPr/>
        </p:nvSpPr>
        <p:spPr>
          <a:xfrm rot="0">
            <a:off x="12698616" y="8984615"/>
            <a:ext cx="4560684" cy="273685"/>
          </a:xfrm>
          <a:prstGeom prst="rect">
            <a:avLst/>
          </a:prstGeom>
        </p:spPr>
        <p:txBody>
          <a:bodyPr anchor="t" rtlCol="false" tIns="0" lIns="0" bIns="0" rIns="0">
            <a:spAutoFit/>
          </a:bodyPr>
          <a:lstStyle/>
          <a:p>
            <a:pPr algn="r">
              <a:lnSpc>
                <a:spcPts val="2239"/>
              </a:lnSpc>
            </a:pPr>
            <a:r>
              <a:rPr lang="en-US" sz="1599">
                <a:solidFill>
                  <a:srgbClr val="331B0D"/>
                </a:solidFill>
                <a:latin typeface="Open Sauce"/>
                <a:ea typeface="Open Sauce"/>
                <a:cs typeface="Open Sauce"/>
                <a:sym typeface="Open Sauce"/>
              </a:rPr>
              <a:t>11</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EFEEE7"/>
        </a:solidFill>
      </p:bgPr>
    </p:bg>
    <p:spTree>
      <p:nvGrpSpPr>
        <p:cNvPr id="1" name=""/>
        <p:cNvGrpSpPr/>
        <p:nvPr/>
      </p:nvGrpSpPr>
      <p:grpSpPr>
        <a:xfrm>
          <a:off x="0" y="0"/>
          <a:ext cx="0" cy="0"/>
          <a:chOff x="0" y="0"/>
          <a:chExt cx="0" cy="0"/>
        </a:xfrm>
      </p:grpSpPr>
      <p:sp>
        <p:nvSpPr>
          <p:cNvPr name="TextBox 2" id="2"/>
          <p:cNvSpPr txBox="true"/>
          <p:nvPr/>
        </p:nvSpPr>
        <p:spPr>
          <a:xfrm rot="0">
            <a:off x="1006871" y="942975"/>
            <a:ext cx="16230600" cy="651099"/>
          </a:xfrm>
          <a:prstGeom prst="rect">
            <a:avLst/>
          </a:prstGeom>
        </p:spPr>
        <p:txBody>
          <a:bodyPr anchor="t" rtlCol="false" tIns="0" lIns="0" bIns="0" rIns="0">
            <a:spAutoFit/>
          </a:bodyPr>
          <a:lstStyle/>
          <a:p>
            <a:pPr algn="l">
              <a:lnSpc>
                <a:spcPts val="5200"/>
              </a:lnSpc>
              <a:spcBef>
                <a:spcPct val="0"/>
              </a:spcBef>
            </a:pPr>
            <a:r>
              <a:rPr lang="en-US" b="true" sz="3714" spc="843">
                <a:solidFill>
                  <a:srgbClr val="2B2C30"/>
                </a:solidFill>
                <a:latin typeface="Public Sans Bold"/>
                <a:ea typeface="Public Sans Bold"/>
                <a:cs typeface="Public Sans Bold"/>
                <a:sym typeface="Public Sans Bold"/>
              </a:rPr>
              <a:t>DATA DIVERSITY</a:t>
            </a:r>
          </a:p>
        </p:txBody>
      </p:sp>
      <p:sp>
        <p:nvSpPr>
          <p:cNvPr name="AutoShape 3" id="3"/>
          <p:cNvSpPr/>
          <p:nvPr/>
        </p:nvSpPr>
        <p:spPr>
          <a:xfrm flipV="true">
            <a:off x="-7086597" y="1760761"/>
            <a:ext cx="16230594" cy="38509"/>
          </a:xfrm>
          <a:prstGeom prst="line">
            <a:avLst/>
          </a:prstGeom>
          <a:ln cap="flat" w="9525">
            <a:solidFill>
              <a:srgbClr val="2B2C30"/>
            </a:solidFill>
            <a:prstDash val="solid"/>
            <a:headEnd type="none" len="sm" w="sm"/>
            <a:tailEnd type="none" len="sm" w="sm"/>
          </a:ln>
        </p:spPr>
      </p:sp>
      <p:grpSp>
        <p:nvGrpSpPr>
          <p:cNvPr name="Group 4" id="4"/>
          <p:cNvGrpSpPr/>
          <p:nvPr/>
        </p:nvGrpSpPr>
        <p:grpSpPr>
          <a:xfrm rot="0">
            <a:off x="9722567" y="1028700"/>
            <a:ext cx="7773804" cy="5063759"/>
            <a:chOff x="0" y="0"/>
            <a:chExt cx="2364475" cy="1540189"/>
          </a:xfrm>
        </p:grpSpPr>
        <p:sp>
          <p:nvSpPr>
            <p:cNvPr name="Freeform 5" id="5"/>
            <p:cNvSpPr/>
            <p:nvPr/>
          </p:nvSpPr>
          <p:spPr>
            <a:xfrm flipH="false" flipV="false" rot="0">
              <a:off x="0" y="0"/>
              <a:ext cx="2364475" cy="1540190"/>
            </a:xfrm>
            <a:custGeom>
              <a:avLst/>
              <a:gdLst/>
              <a:ahLst/>
              <a:cxnLst/>
              <a:rect r="r" b="b" t="t" l="l"/>
              <a:pathLst>
                <a:path h="1540190" w="2364475">
                  <a:moveTo>
                    <a:pt x="0" y="0"/>
                  </a:moveTo>
                  <a:lnTo>
                    <a:pt x="2364475" y="0"/>
                  </a:lnTo>
                  <a:lnTo>
                    <a:pt x="2364475" y="1540190"/>
                  </a:lnTo>
                  <a:lnTo>
                    <a:pt x="0" y="1540190"/>
                  </a:lnTo>
                  <a:close/>
                </a:path>
              </a:pathLst>
            </a:custGeom>
            <a:ln w="9525" cap="sq">
              <a:solidFill>
                <a:srgbClr val="2B2C30"/>
              </a:solidFill>
              <a:prstDash val="solid"/>
              <a:miter/>
            </a:ln>
          </p:spPr>
        </p:sp>
        <p:sp>
          <p:nvSpPr>
            <p:cNvPr name="TextBox 6" id="6"/>
            <p:cNvSpPr txBox="true"/>
            <p:nvPr/>
          </p:nvSpPr>
          <p:spPr>
            <a:xfrm>
              <a:off x="0" y="-28575"/>
              <a:ext cx="2364475" cy="1568764"/>
            </a:xfrm>
            <a:prstGeom prst="rect">
              <a:avLst/>
            </a:prstGeom>
          </p:spPr>
          <p:txBody>
            <a:bodyPr anchor="ctr" rtlCol="false" tIns="68580" lIns="68580" bIns="68580" rIns="68580"/>
            <a:lstStyle/>
            <a:p>
              <a:pPr algn="ctr">
                <a:lnSpc>
                  <a:spcPts val="1889"/>
                </a:lnSpc>
              </a:pPr>
            </a:p>
          </p:txBody>
        </p:sp>
      </p:grpSp>
      <p:grpSp>
        <p:nvGrpSpPr>
          <p:cNvPr name="Group 7" id="7"/>
          <p:cNvGrpSpPr/>
          <p:nvPr/>
        </p:nvGrpSpPr>
        <p:grpSpPr>
          <a:xfrm rot="0">
            <a:off x="10333265" y="1402038"/>
            <a:ext cx="6552408" cy="4317083"/>
            <a:chOff x="0" y="0"/>
            <a:chExt cx="8736544" cy="5756111"/>
          </a:xfrm>
        </p:grpSpPr>
        <p:pic>
          <p:nvPicPr>
            <p:cNvPr name="Picture 8" id="8"/>
            <p:cNvPicPr>
              <a:picLocks noChangeAspect="true"/>
            </p:cNvPicPr>
            <p:nvPr/>
          </p:nvPicPr>
          <p:blipFill>
            <a:blip r:embed="rId2"/>
            <a:srcRect l="0" t="555" r="0" b="555"/>
            <a:stretch>
              <a:fillRect/>
            </a:stretch>
          </p:blipFill>
          <p:spPr>
            <a:xfrm flipH="false" flipV="false">
              <a:off x="0" y="0"/>
              <a:ext cx="8736544" cy="5756111"/>
            </a:xfrm>
            <a:prstGeom prst="rect">
              <a:avLst/>
            </a:prstGeom>
          </p:spPr>
        </p:pic>
      </p:grpSp>
      <p:sp>
        <p:nvSpPr>
          <p:cNvPr name="TextBox 9" id="9"/>
          <p:cNvSpPr txBox="true"/>
          <p:nvPr/>
        </p:nvSpPr>
        <p:spPr>
          <a:xfrm rot="0">
            <a:off x="1006871" y="2194114"/>
            <a:ext cx="7877184" cy="5741670"/>
          </a:xfrm>
          <a:prstGeom prst="rect">
            <a:avLst/>
          </a:prstGeom>
        </p:spPr>
        <p:txBody>
          <a:bodyPr anchor="t" rtlCol="false" tIns="0" lIns="0" bIns="0" rIns="0">
            <a:spAutoFit/>
          </a:bodyPr>
          <a:lstStyle/>
          <a:p>
            <a:pPr algn="l">
              <a:lnSpc>
                <a:spcPts val="4199"/>
              </a:lnSpc>
            </a:pPr>
            <a:r>
              <a:rPr lang="en-US" sz="2799">
                <a:solidFill>
                  <a:srgbClr val="2B2C30"/>
                </a:solidFill>
                <a:latin typeface="Public Sans"/>
                <a:ea typeface="Public Sans"/>
                <a:cs typeface="Public Sans"/>
                <a:sym typeface="Public Sans"/>
              </a:rPr>
              <a:t>PLAYER_TYPES = [</a:t>
            </a:r>
          </a:p>
          <a:p>
            <a:pPr algn="l">
              <a:lnSpc>
                <a:spcPts val="4199"/>
              </a:lnSpc>
            </a:pPr>
            <a:r>
              <a:rPr lang="en-US" sz="2799">
                <a:solidFill>
                  <a:srgbClr val="2B2C30"/>
                </a:solidFill>
                <a:latin typeface="Public Sans"/>
                <a:ea typeface="Public Sans"/>
                <a:cs typeface="Public Sans"/>
                <a:sym typeface="Public Sans"/>
              </a:rPr>
              <a:t>  </a:t>
            </a:r>
            <a:r>
              <a:rPr lang="en-US" sz="2799">
                <a:solidFill>
                  <a:srgbClr val="2B2C30"/>
                </a:solidFill>
                <a:latin typeface="Public Sans"/>
                <a:ea typeface="Public Sans"/>
                <a:cs typeface="Public Sans"/>
                <a:sym typeface="Public Sans"/>
              </a:rPr>
              <a:t>"explorer",</a:t>
            </a:r>
          </a:p>
          <a:p>
            <a:pPr algn="l">
              <a:lnSpc>
                <a:spcPts val="4199"/>
              </a:lnSpc>
            </a:pPr>
            <a:r>
              <a:rPr lang="en-US" sz="2799">
                <a:solidFill>
                  <a:srgbClr val="2B2C30"/>
                </a:solidFill>
                <a:latin typeface="Public Sans"/>
                <a:ea typeface="Public Sans"/>
                <a:cs typeface="Public Sans"/>
                <a:sym typeface="Public Sans"/>
              </a:rPr>
              <a:t>  </a:t>
            </a:r>
            <a:r>
              <a:rPr lang="en-US" sz="2799">
                <a:solidFill>
                  <a:srgbClr val="2B2C30"/>
                </a:solidFill>
                <a:latin typeface="Public Sans"/>
                <a:ea typeface="Public Sans"/>
                <a:cs typeface="Public Sans"/>
                <a:sym typeface="Public Sans"/>
              </a:rPr>
              <a:t>"competitor",</a:t>
            </a:r>
          </a:p>
          <a:p>
            <a:pPr algn="l">
              <a:lnSpc>
                <a:spcPts val="4199"/>
              </a:lnSpc>
            </a:pPr>
            <a:r>
              <a:rPr lang="en-US" sz="2799">
                <a:solidFill>
                  <a:srgbClr val="2B2C30"/>
                </a:solidFill>
                <a:latin typeface="Public Sans"/>
                <a:ea typeface="Public Sans"/>
                <a:cs typeface="Public Sans"/>
                <a:sym typeface="Public Sans"/>
              </a:rPr>
              <a:t>  </a:t>
            </a:r>
            <a:r>
              <a:rPr lang="en-US" sz="2799">
                <a:solidFill>
                  <a:srgbClr val="2B2C30"/>
                </a:solidFill>
                <a:latin typeface="Public Sans"/>
                <a:ea typeface="Public Sans"/>
                <a:cs typeface="Public Sans"/>
                <a:sym typeface="Public Sans"/>
              </a:rPr>
              <a:t>"casual player",</a:t>
            </a:r>
          </a:p>
          <a:p>
            <a:pPr algn="l">
              <a:lnSpc>
                <a:spcPts val="4199"/>
              </a:lnSpc>
            </a:pPr>
            <a:r>
              <a:rPr lang="en-US" sz="2799">
                <a:solidFill>
                  <a:srgbClr val="2B2C30"/>
                </a:solidFill>
                <a:latin typeface="Public Sans"/>
                <a:ea typeface="Public Sans"/>
                <a:cs typeface="Public Sans"/>
                <a:sym typeface="Public Sans"/>
              </a:rPr>
              <a:t>  </a:t>
            </a:r>
            <a:r>
              <a:rPr lang="en-US" sz="2799">
                <a:solidFill>
                  <a:srgbClr val="2B2C30"/>
                </a:solidFill>
                <a:latin typeface="Public Sans"/>
                <a:ea typeface="Public Sans"/>
                <a:cs typeface="Public Sans"/>
                <a:sym typeface="Public Sans"/>
              </a:rPr>
              <a:t>"roleplayer",</a:t>
            </a:r>
          </a:p>
          <a:p>
            <a:pPr algn="l">
              <a:lnSpc>
                <a:spcPts val="4199"/>
              </a:lnSpc>
            </a:pPr>
            <a:r>
              <a:rPr lang="en-US" sz="2799">
                <a:solidFill>
                  <a:srgbClr val="2B2C30"/>
                </a:solidFill>
                <a:latin typeface="Public Sans"/>
                <a:ea typeface="Public Sans"/>
                <a:cs typeface="Public Sans"/>
                <a:sym typeface="Public Sans"/>
              </a:rPr>
              <a:t>  "min</a:t>
            </a:r>
            <a:r>
              <a:rPr lang="en-US" sz="2799">
                <a:solidFill>
                  <a:srgbClr val="2B2C30"/>
                </a:solidFill>
                <a:latin typeface="Public Sans"/>
                <a:ea typeface="Public Sans"/>
                <a:cs typeface="Public Sans"/>
                <a:sym typeface="Public Sans"/>
              </a:rPr>
              <a:t> maxer",</a:t>
            </a:r>
          </a:p>
          <a:p>
            <a:pPr algn="l">
              <a:lnSpc>
                <a:spcPts val="4199"/>
              </a:lnSpc>
            </a:pPr>
            <a:r>
              <a:rPr lang="en-US" sz="2799">
                <a:solidFill>
                  <a:srgbClr val="2B2C30"/>
                </a:solidFill>
                <a:latin typeface="Public Sans"/>
                <a:ea typeface="Public Sans"/>
                <a:cs typeface="Public Sans"/>
                <a:sym typeface="Public Sans"/>
              </a:rPr>
              <a:t>  </a:t>
            </a:r>
            <a:r>
              <a:rPr lang="en-US" sz="2799">
                <a:solidFill>
                  <a:srgbClr val="2B2C30"/>
                </a:solidFill>
                <a:latin typeface="Public Sans"/>
                <a:ea typeface="Public Sans"/>
                <a:cs typeface="Public Sans"/>
                <a:sym typeface="Public Sans"/>
              </a:rPr>
              <a:t>"social player",</a:t>
            </a:r>
          </a:p>
          <a:p>
            <a:pPr algn="l">
              <a:lnSpc>
                <a:spcPts val="4199"/>
              </a:lnSpc>
            </a:pPr>
            <a:r>
              <a:rPr lang="en-US" sz="2799">
                <a:solidFill>
                  <a:srgbClr val="2B2C30"/>
                </a:solidFill>
                <a:latin typeface="Public Sans"/>
                <a:ea typeface="Public Sans"/>
                <a:cs typeface="Public Sans"/>
                <a:sym typeface="Public Sans"/>
              </a:rPr>
              <a:t>  </a:t>
            </a:r>
            <a:r>
              <a:rPr lang="en-US" sz="2799">
                <a:solidFill>
                  <a:srgbClr val="2B2C30"/>
                </a:solidFill>
                <a:latin typeface="Public Sans"/>
                <a:ea typeface="Public Sans"/>
                <a:cs typeface="Public Sans"/>
                <a:sym typeface="Public Sans"/>
              </a:rPr>
              <a:t>"troll",</a:t>
            </a:r>
          </a:p>
          <a:p>
            <a:pPr algn="l">
              <a:lnSpc>
                <a:spcPts val="4199"/>
              </a:lnSpc>
            </a:pPr>
            <a:r>
              <a:rPr lang="en-US" sz="2799">
                <a:solidFill>
                  <a:srgbClr val="2B2C30"/>
                </a:solidFill>
                <a:latin typeface="Public Sans"/>
                <a:ea typeface="Public Sans"/>
                <a:cs typeface="Public Sans"/>
                <a:sym typeface="Public Sans"/>
              </a:rPr>
              <a:t>  </a:t>
            </a:r>
            <a:r>
              <a:rPr lang="en-US" sz="2799">
                <a:solidFill>
                  <a:srgbClr val="2B2C30"/>
                </a:solidFill>
                <a:latin typeface="Public Sans"/>
                <a:ea typeface="Public Sans"/>
                <a:cs typeface="Public Sans"/>
                <a:sym typeface="Public Sans"/>
              </a:rPr>
              <a:t>"helper"</a:t>
            </a:r>
          </a:p>
          <a:p>
            <a:pPr algn="l">
              <a:lnSpc>
                <a:spcPts val="4199"/>
              </a:lnSpc>
            </a:pPr>
            <a:r>
              <a:rPr lang="en-US" sz="2799">
                <a:solidFill>
                  <a:srgbClr val="2B2C30"/>
                </a:solidFill>
                <a:latin typeface="Public Sans"/>
                <a:ea typeface="Public Sans"/>
                <a:cs typeface="Public Sans"/>
                <a:sym typeface="Public Sans"/>
              </a:rPr>
              <a:t>]</a:t>
            </a:r>
          </a:p>
          <a:p>
            <a:pPr algn="l">
              <a:lnSpc>
                <a:spcPts val="4199"/>
              </a:lnSpc>
            </a:pPr>
          </a:p>
        </p:txBody>
      </p:sp>
      <p:sp>
        <p:nvSpPr>
          <p:cNvPr name="TextBox 10" id="10"/>
          <p:cNvSpPr txBox="true"/>
          <p:nvPr/>
        </p:nvSpPr>
        <p:spPr>
          <a:xfrm rot="0">
            <a:off x="12698616" y="8984615"/>
            <a:ext cx="4560684" cy="273685"/>
          </a:xfrm>
          <a:prstGeom prst="rect">
            <a:avLst/>
          </a:prstGeom>
        </p:spPr>
        <p:txBody>
          <a:bodyPr anchor="t" rtlCol="false" tIns="0" lIns="0" bIns="0" rIns="0">
            <a:spAutoFit/>
          </a:bodyPr>
          <a:lstStyle/>
          <a:p>
            <a:pPr algn="r">
              <a:lnSpc>
                <a:spcPts val="2239"/>
              </a:lnSpc>
            </a:pPr>
            <a:r>
              <a:rPr lang="en-US" sz="1599">
                <a:solidFill>
                  <a:srgbClr val="331B0D"/>
                </a:solidFill>
                <a:latin typeface="Open Sauce"/>
                <a:ea typeface="Open Sauce"/>
                <a:cs typeface="Open Sauce"/>
                <a:sym typeface="Open Sauce"/>
              </a:rPr>
              <a:t>12</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EFEEE7"/>
        </a:solidFill>
      </p:bgPr>
    </p:bg>
    <p:spTree>
      <p:nvGrpSpPr>
        <p:cNvPr id="1" name=""/>
        <p:cNvGrpSpPr/>
        <p:nvPr/>
      </p:nvGrpSpPr>
      <p:grpSpPr>
        <a:xfrm>
          <a:off x="0" y="0"/>
          <a:ext cx="0" cy="0"/>
          <a:chOff x="0" y="0"/>
          <a:chExt cx="0" cy="0"/>
        </a:xfrm>
      </p:grpSpPr>
      <p:sp>
        <p:nvSpPr>
          <p:cNvPr name="TextBox 2" id="2"/>
          <p:cNvSpPr txBox="true"/>
          <p:nvPr/>
        </p:nvSpPr>
        <p:spPr>
          <a:xfrm rot="0">
            <a:off x="1006871" y="942975"/>
            <a:ext cx="16230600" cy="651099"/>
          </a:xfrm>
          <a:prstGeom prst="rect">
            <a:avLst/>
          </a:prstGeom>
        </p:spPr>
        <p:txBody>
          <a:bodyPr anchor="t" rtlCol="false" tIns="0" lIns="0" bIns="0" rIns="0">
            <a:spAutoFit/>
          </a:bodyPr>
          <a:lstStyle/>
          <a:p>
            <a:pPr algn="l">
              <a:lnSpc>
                <a:spcPts val="5200"/>
              </a:lnSpc>
              <a:spcBef>
                <a:spcPct val="0"/>
              </a:spcBef>
            </a:pPr>
            <a:r>
              <a:rPr lang="en-US" b="true" sz="3714" spc="843">
                <a:solidFill>
                  <a:srgbClr val="2B2C30"/>
                </a:solidFill>
                <a:latin typeface="Public Sans Bold"/>
                <a:ea typeface="Public Sans Bold"/>
                <a:cs typeface="Public Sans Bold"/>
                <a:sym typeface="Public Sans Bold"/>
              </a:rPr>
              <a:t>DATA DIVERSITY</a:t>
            </a:r>
          </a:p>
        </p:txBody>
      </p:sp>
      <p:sp>
        <p:nvSpPr>
          <p:cNvPr name="AutoShape 3" id="3"/>
          <p:cNvSpPr/>
          <p:nvPr/>
        </p:nvSpPr>
        <p:spPr>
          <a:xfrm flipV="true">
            <a:off x="-7086597" y="1760761"/>
            <a:ext cx="16230594" cy="38509"/>
          </a:xfrm>
          <a:prstGeom prst="line">
            <a:avLst/>
          </a:prstGeom>
          <a:ln cap="flat" w="9525">
            <a:solidFill>
              <a:srgbClr val="2B2C30"/>
            </a:solidFill>
            <a:prstDash val="solid"/>
            <a:headEnd type="none" len="sm" w="sm"/>
            <a:tailEnd type="none" len="sm" w="sm"/>
          </a:ln>
        </p:spPr>
      </p:sp>
      <p:grpSp>
        <p:nvGrpSpPr>
          <p:cNvPr name="Group 4" id="4"/>
          <p:cNvGrpSpPr/>
          <p:nvPr/>
        </p:nvGrpSpPr>
        <p:grpSpPr>
          <a:xfrm rot="0">
            <a:off x="9722567" y="1028700"/>
            <a:ext cx="7773804" cy="5063759"/>
            <a:chOff x="0" y="0"/>
            <a:chExt cx="2364475" cy="1540189"/>
          </a:xfrm>
        </p:grpSpPr>
        <p:sp>
          <p:nvSpPr>
            <p:cNvPr name="Freeform 5" id="5"/>
            <p:cNvSpPr/>
            <p:nvPr/>
          </p:nvSpPr>
          <p:spPr>
            <a:xfrm flipH="false" flipV="false" rot="0">
              <a:off x="0" y="0"/>
              <a:ext cx="2364475" cy="1540190"/>
            </a:xfrm>
            <a:custGeom>
              <a:avLst/>
              <a:gdLst/>
              <a:ahLst/>
              <a:cxnLst/>
              <a:rect r="r" b="b" t="t" l="l"/>
              <a:pathLst>
                <a:path h="1540190" w="2364475">
                  <a:moveTo>
                    <a:pt x="0" y="0"/>
                  </a:moveTo>
                  <a:lnTo>
                    <a:pt x="2364475" y="0"/>
                  </a:lnTo>
                  <a:lnTo>
                    <a:pt x="2364475" y="1540190"/>
                  </a:lnTo>
                  <a:lnTo>
                    <a:pt x="0" y="1540190"/>
                  </a:lnTo>
                  <a:close/>
                </a:path>
              </a:pathLst>
            </a:custGeom>
            <a:ln w="9525" cap="sq">
              <a:solidFill>
                <a:srgbClr val="2B2C30"/>
              </a:solidFill>
              <a:prstDash val="solid"/>
              <a:miter/>
            </a:ln>
          </p:spPr>
        </p:sp>
        <p:sp>
          <p:nvSpPr>
            <p:cNvPr name="TextBox 6" id="6"/>
            <p:cNvSpPr txBox="true"/>
            <p:nvPr/>
          </p:nvSpPr>
          <p:spPr>
            <a:xfrm>
              <a:off x="0" y="-28575"/>
              <a:ext cx="2364475" cy="1568764"/>
            </a:xfrm>
            <a:prstGeom prst="rect">
              <a:avLst/>
            </a:prstGeom>
          </p:spPr>
          <p:txBody>
            <a:bodyPr anchor="ctr" rtlCol="false" tIns="68580" lIns="68580" bIns="68580" rIns="68580"/>
            <a:lstStyle/>
            <a:p>
              <a:pPr algn="ctr">
                <a:lnSpc>
                  <a:spcPts val="1889"/>
                </a:lnSpc>
              </a:pPr>
            </a:p>
          </p:txBody>
        </p:sp>
      </p:grpSp>
      <p:grpSp>
        <p:nvGrpSpPr>
          <p:cNvPr name="Group 7" id="7"/>
          <p:cNvGrpSpPr/>
          <p:nvPr/>
        </p:nvGrpSpPr>
        <p:grpSpPr>
          <a:xfrm rot="0">
            <a:off x="10333265" y="1402038"/>
            <a:ext cx="6552408" cy="4317083"/>
            <a:chOff x="0" y="0"/>
            <a:chExt cx="8736544" cy="5756111"/>
          </a:xfrm>
        </p:grpSpPr>
        <p:pic>
          <p:nvPicPr>
            <p:cNvPr name="Picture 8" id="8"/>
            <p:cNvPicPr>
              <a:picLocks noChangeAspect="true"/>
            </p:cNvPicPr>
            <p:nvPr/>
          </p:nvPicPr>
          <p:blipFill>
            <a:blip r:embed="rId2"/>
            <a:srcRect l="0" t="555" r="0" b="555"/>
            <a:stretch>
              <a:fillRect/>
            </a:stretch>
          </p:blipFill>
          <p:spPr>
            <a:xfrm flipH="false" flipV="false">
              <a:off x="0" y="0"/>
              <a:ext cx="8736544" cy="5756111"/>
            </a:xfrm>
            <a:prstGeom prst="rect">
              <a:avLst/>
            </a:prstGeom>
          </p:spPr>
        </p:pic>
      </p:grpSp>
      <p:sp>
        <p:nvSpPr>
          <p:cNvPr name="TextBox 9" id="9"/>
          <p:cNvSpPr txBox="true"/>
          <p:nvPr/>
        </p:nvSpPr>
        <p:spPr>
          <a:xfrm rot="0">
            <a:off x="1006871" y="2194114"/>
            <a:ext cx="7877184" cy="5741670"/>
          </a:xfrm>
          <a:prstGeom prst="rect">
            <a:avLst/>
          </a:prstGeom>
        </p:spPr>
        <p:txBody>
          <a:bodyPr anchor="t" rtlCol="false" tIns="0" lIns="0" bIns="0" rIns="0">
            <a:spAutoFit/>
          </a:bodyPr>
          <a:lstStyle/>
          <a:p>
            <a:pPr algn="l">
              <a:lnSpc>
                <a:spcPts val="4199"/>
              </a:lnSpc>
            </a:pPr>
            <a:r>
              <a:rPr lang="en-US" sz="2799">
                <a:solidFill>
                  <a:srgbClr val="2B2C30"/>
                </a:solidFill>
                <a:latin typeface="Public Sans"/>
                <a:ea typeface="Public Sans"/>
                <a:cs typeface="Public Sans"/>
                <a:sym typeface="Public Sans"/>
              </a:rPr>
              <a:t>PLAYER_TYPES = [</a:t>
            </a:r>
          </a:p>
          <a:p>
            <a:pPr algn="l">
              <a:lnSpc>
                <a:spcPts val="4199"/>
              </a:lnSpc>
            </a:pPr>
            <a:r>
              <a:rPr lang="en-US" sz="2799">
                <a:solidFill>
                  <a:srgbClr val="2B2C30"/>
                </a:solidFill>
                <a:latin typeface="Public Sans"/>
                <a:ea typeface="Public Sans"/>
                <a:cs typeface="Public Sans"/>
                <a:sym typeface="Public Sans"/>
              </a:rPr>
              <a:t>  </a:t>
            </a:r>
            <a:r>
              <a:rPr lang="en-US" sz="2799">
                <a:solidFill>
                  <a:srgbClr val="2B2C30"/>
                </a:solidFill>
                <a:latin typeface="Public Sans"/>
                <a:ea typeface="Public Sans"/>
                <a:cs typeface="Public Sans"/>
                <a:sym typeface="Public Sans"/>
              </a:rPr>
              <a:t>"explorer",</a:t>
            </a:r>
          </a:p>
          <a:p>
            <a:pPr algn="l">
              <a:lnSpc>
                <a:spcPts val="4199"/>
              </a:lnSpc>
            </a:pPr>
            <a:r>
              <a:rPr lang="en-US" sz="2799">
                <a:solidFill>
                  <a:srgbClr val="2B2C30"/>
                </a:solidFill>
                <a:latin typeface="Public Sans"/>
                <a:ea typeface="Public Sans"/>
                <a:cs typeface="Public Sans"/>
                <a:sym typeface="Public Sans"/>
              </a:rPr>
              <a:t>  </a:t>
            </a:r>
            <a:r>
              <a:rPr lang="en-US" sz="2799">
                <a:solidFill>
                  <a:srgbClr val="2B2C30"/>
                </a:solidFill>
                <a:latin typeface="Public Sans"/>
                <a:ea typeface="Public Sans"/>
                <a:cs typeface="Public Sans"/>
                <a:sym typeface="Public Sans"/>
              </a:rPr>
              <a:t>"competitor",</a:t>
            </a:r>
          </a:p>
          <a:p>
            <a:pPr algn="l">
              <a:lnSpc>
                <a:spcPts val="4199"/>
              </a:lnSpc>
            </a:pPr>
            <a:r>
              <a:rPr lang="en-US" sz="2799">
                <a:solidFill>
                  <a:srgbClr val="2B2C30"/>
                </a:solidFill>
                <a:latin typeface="Public Sans"/>
                <a:ea typeface="Public Sans"/>
                <a:cs typeface="Public Sans"/>
                <a:sym typeface="Public Sans"/>
              </a:rPr>
              <a:t>  </a:t>
            </a:r>
            <a:r>
              <a:rPr lang="en-US" sz="2799">
                <a:solidFill>
                  <a:srgbClr val="2B2C30"/>
                </a:solidFill>
                <a:latin typeface="Public Sans"/>
                <a:ea typeface="Public Sans"/>
                <a:cs typeface="Public Sans"/>
                <a:sym typeface="Public Sans"/>
              </a:rPr>
              <a:t>"casual player",</a:t>
            </a:r>
          </a:p>
          <a:p>
            <a:pPr algn="l">
              <a:lnSpc>
                <a:spcPts val="4199"/>
              </a:lnSpc>
            </a:pPr>
            <a:r>
              <a:rPr lang="en-US" sz="2799">
                <a:solidFill>
                  <a:srgbClr val="2B2C30"/>
                </a:solidFill>
                <a:latin typeface="Public Sans"/>
                <a:ea typeface="Public Sans"/>
                <a:cs typeface="Public Sans"/>
                <a:sym typeface="Public Sans"/>
              </a:rPr>
              <a:t>  </a:t>
            </a:r>
            <a:r>
              <a:rPr lang="en-US" sz="2799">
                <a:solidFill>
                  <a:srgbClr val="2B2C30"/>
                </a:solidFill>
                <a:latin typeface="Public Sans"/>
                <a:ea typeface="Public Sans"/>
                <a:cs typeface="Public Sans"/>
                <a:sym typeface="Public Sans"/>
              </a:rPr>
              <a:t>"roleplayer",</a:t>
            </a:r>
          </a:p>
          <a:p>
            <a:pPr algn="l">
              <a:lnSpc>
                <a:spcPts val="4199"/>
              </a:lnSpc>
            </a:pPr>
            <a:r>
              <a:rPr lang="en-US" sz="2799">
                <a:solidFill>
                  <a:srgbClr val="2B2C30"/>
                </a:solidFill>
                <a:latin typeface="Public Sans"/>
                <a:ea typeface="Public Sans"/>
                <a:cs typeface="Public Sans"/>
                <a:sym typeface="Public Sans"/>
              </a:rPr>
              <a:t>  "min</a:t>
            </a:r>
            <a:r>
              <a:rPr lang="en-US" sz="2799">
                <a:solidFill>
                  <a:srgbClr val="2B2C30"/>
                </a:solidFill>
                <a:latin typeface="Public Sans"/>
                <a:ea typeface="Public Sans"/>
                <a:cs typeface="Public Sans"/>
                <a:sym typeface="Public Sans"/>
              </a:rPr>
              <a:t> maxer",</a:t>
            </a:r>
          </a:p>
          <a:p>
            <a:pPr algn="l">
              <a:lnSpc>
                <a:spcPts val="4199"/>
              </a:lnSpc>
            </a:pPr>
            <a:r>
              <a:rPr lang="en-US" sz="2799">
                <a:solidFill>
                  <a:srgbClr val="2B2C30"/>
                </a:solidFill>
                <a:latin typeface="Public Sans"/>
                <a:ea typeface="Public Sans"/>
                <a:cs typeface="Public Sans"/>
                <a:sym typeface="Public Sans"/>
              </a:rPr>
              <a:t>  </a:t>
            </a:r>
            <a:r>
              <a:rPr lang="en-US" sz="2799">
                <a:solidFill>
                  <a:srgbClr val="2B2C30"/>
                </a:solidFill>
                <a:latin typeface="Public Sans"/>
                <a:ea typeface="Public Sans"/>
                <a:cs typeface="Public Sans"/>
                <a:sym typeface="Public Sans"/>
              </a:rPr>
              <a:t>"social player",</a:t>
            </a:r>
          </a:p>
          <a:p>
            <a:pPr algn="l">
              <a:lnSpc>
                <a:spcPts val="4199"/>
              </a:lnSpc>
            </a:pPr>
            <a:r>
              <a:rPr lang="en-US" sz="2799">
                <a:solidFill>
                  <a:srgbClr val="2B2C30"/>
                </a:solidFill>
                <a:latin typeface="Public Sans"/>
                <a:ea typeface="Public Sans"/>
                <a:cs typeface="Public Sans"/>
                <a:sym typeface="Public Sans"/>
              </a:rPr>
              <a:t>  </a:t>
            </a:r>
            <a:r>
              <a:rPr lang="en-US" sz="2799">
                <a:solidFill>
                  <a:srgbClr val="2B2C30"/>
                </a:solidFill>
                <a:latin typeface="Public Sans"/>
                <a:ea typeface="Public Sans"/>
                <a:cs typeface="Public Sans"/>
                <a:sym typeface="Public Sans"/>
              </a:rPr>
              <a:t>"troll",</a:t>
            </a:r>
          </a:p>
          <a:p>
            <a:pPr algn="l">
              <a:lnSpc>
                <a:spcPts val="4199"/>
              </a:lnSpc>
            </a:pPr>
            <a:r>
              <a:rPr lang="en-US" sz="2799">
                <a:solidFill>
                  <a:srgbClr val="2B2C30"/>
                </a:solidFill>
                <a:latin typeface="Public Sans"/>
                <a:ea typeface="Public Sans"/>
                <a:cs typeface="Public Sans"/>
                <a:sym typeface="Public Sans"/>
              </a:rPr>
              <a:t>  </a:t>
            </a:r>
            <a:r>
              <a:rPr lang="en-US" sz="2799">
                <a:solidFill>
                  <a:srgbClr val="2B2C30"/>
                </a:solidFill>
                <a:latin typeface="Public Sans"/>
                <a:ea typeface="Public Sans"/>
                <a:cs typeface="Public Sans"/>
                <a:sym typeface="Public Sans"/>
              </a:rPr>
              <a:t>"helper"</a:t>
            </a:r>
          </a:p>
          <a:p>
            <a:pPr algn="l">
              <a:lnSpc>
                <a:spcPts val="4199"/>
              </a:lnSpc>
            </a:pPr>
            <a:r>
              <a:rPr lang="en-US" sz="2799">
                <a:solidFill>
                  <a:srgbClr val="2B2C30"/>
                </a:solidFill>
                <a:latin typeface="Public Sans"/>
                <a:ea typeface="Public Sans"/>
                <a:cs typeface="Public Sans"/>
                <a:sym typeface="Public Sans"/>
              </a:rPr>
              <a:t>]</a:t>
            </a:r>
          </a:p>
          <a:p>
            <a:pPr algn="l">
              <a:lnSpc>
                <a:spcPts val="4199"/>
              </a:lnSpc>
            </a:pPr>
          </a:p>
        </p:txBody>
      </p:sp>
      <p:sp>
        <p:nvSpPr>
          <p:cNvPr name="TextBox 10" id="10"/>
          <p:cNvSpPr txBox="true"/>
          <p:nvPr/>
        </p:nvSpPr>
        <p:spPr>
          <a:xfrm rot="0">
            <a:off x="12698616" y="8984615"/>
            <a:ext cx="4560684" cy="273685"/>
          </a:xfrm>
          <a:prstGeom prst="rect">
            <a:avLst/>
          </a:prstGeom>
        </p:spPr>
        <p:txBody>
          <a:bodyPr anchor="t" rtlCol="false" tIns="0" lIns="0" bIns="0" rIns="0">
            <a:spAutoFit/>
          </a:bodyPr>
          <a:lstStyle/>
          <a:p>
            <a:pPr algn="r">
              <a:lnSpc>
                <a:spcPts val="2239"/>
              </a:lnSpc>
            </a:pPr>
            <a:r>
              <a:rPr lang="en-US" sz="1599">
                <a:solidFill>
                  <a:srgbClr val="331B0D"/>
                </a:solidFill>
                <a:latin typeface="Open Sauce"/>
                <a:ea typeface="Open Sauce"/>
                <a:cs typeface="Open Sauce"/>
                <a:sym typeface="Open Sauce"/>
              </a:rPr>
              <a:t>13</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EFEEE7"/>
        </a:solidFill>
      </p:bgPr>
    </p:bg>
    <p:spTree>
      <p:nvGrpSpPr>
        <p:cNvPr id="1" name=""/>
        <p:cNvGrpSpPr/>
        <p:nvPr/>
      </p:nvGrpSpPr>
      <p:grpSpPr>
        <a:xfrm>
          <a:off x="0" y="0"/>
          <a:ext cx="0" cy="0"/>
          <a:chOff x="0" y="0"/>
          <a:chExt cx="0" cy="0"/>
        </a:xfrm>
      </p:grpSpPr>
      <p:sp>
        <p:nvSpPr>
          <p:cNvPr name="TextBox 2" id="2"/>
          <p:cNvSpPr txBox="true"/>
          <p:nvPr/>
        </p:nvSpPr>
        <p:spPr>
          <a:xfrm rot="0">
            <a:off x="1006871" y="942975"/>
            <a:ext cx="16230600" cy="651099"/>
          </a:xfrm>
          <a:prstGeom prst="rect">
            <a:avLst/>
          </a:prstGeom>
        </p:spPr>
        <p:txBody>
          <a:bodyPr anchor="t" rtlCol="false" tIns="0" lIns="0" bIns="0" rIns="0">
            <a:spAutoFit/>
          </a:bodyPr>
          <a:lstStyle/>
          <a:p>
            <a:pPr algn="l">
              <a:lnSpc>
                <a:spcPts val="5200"/>
              </a:lnSpc>
              <a:spcBef>
                <a:spcPct val="0"/>
              </a:spcBef>
            </a:pPr>
            <a:r>
              <a:rPr lang="en-US" b="true" sz="3714" spc="843">
                <a:solidFill>
                  <a:srgbClr val="2B2C30"/>
                </a:solidFill>
                <a:latin typeface="Public Sans Bold"/>
                <a:ea typeface="Public Sans Bold"/>
                <a:cs typeface="Public Sans Bold"/>
                <a:sym typeface="Public Sans Bold"/>
              </a:rPr>
              <a:t>DATA DIVERSITY</a:t>
            </a:r>
          </a:p>
        </p:txBody>
      </p:sp>
      <p:sp>
        <p:nvSpPr>
          <p:cNvPr name="AutoShape 3" id="3"/>
          <p:cNvSpPr/>
          <p:nvPr/>
        </p:nvSpPr>
        <p:spPr>
          <a:xfrm flipV="true">
            <a:off x="-7086597" y="1760761"/>
            <a:ext cx="16230594" cy="38509"/>
          </a:xfrm>
          <a:prstGeom prst="line">
            <a:avLst/>
          </a:prstGeom>
          <a:ln cap="flat" w="9525">
            <a:solidFill>
              <a:srgbClr val="2B2C30"/>
            </a:solidFill>
            <a:prstDash val="solid"/>
            <a:headEnd type="none" len="sm" w="sm"/>
            <a:tailEnd type="none" len="sm" w="sm"/>
          </a:ln>
        </p:spPr>
      </p:sp>
      <p:grpSp>
        <p:nvGrpSpPr>
          <p:cNvPr name="Group 4" id="4"/>
          <p:cNvGrpSpPr/>
          <p:nvPr/>
        </p:nvGrpSpPr>
        <p:grpSpPr>
          <a:xfrm rot="0">
            <a:off x="9722567" y="1028700"/>
            <a:ext cx="7773804" cy="5063759"/>
            <a:chOff x="0" y="0"/>
            <a:chExt cx="2364475" cy="1540189"/>
          </a:xfrm>
        </p:grpSpPr>
        <p:sp>
          <p:nvSpPr>
            <p:cNvPr name="Freeform 5" id="5"/>
            <p:cNvSpPr/>
            <p:nvPr/>
          </p:nvSpPr>
          <p:spPr>
            <a:xfrm flipH="false" flipV="false" rot="0">
              <a:off x="0" y="0"/>
              <a:ext cx="2364475" cy="1540190"/>
            </a:xfrm>
            <a:custGeom>
              <a:avLst/>
              <a:gdLst/>
              <a:ahLst/>
              <a:cxnLst/>
              <a:rect r="r" b="b" t="t" l="l"/>
              <a:pathLst>
                <a:path h="1540190" w="2364475">
                  <a:moveTo>
                    <a:pt x="0" y="0"/>
                  </a:moveTo>
                  <a:lnTo>
                    <a:pt x="2364475" y="0"/>
                  </a:lnTo>
                  <a:lnTo>
                    <a:pt x="2364475" y="1540190"/>
                  </a:lnTo>
                  <a:lnTo>
                    <a:pt x="0" y="1540190"/>
                  </a:lnTo>
                  <a:close/>
                </a:path>
              </a:pathLst>
            </a:custGeom>
            <a:ln w="9525" cap="sq">
              <a:solidFill>
                <a:srgbClr val="2B2C30"/>
              </a:solidFill>
              <a:prstDash val="solid"/>
              <a:miter/>
            </a:ln>
          </p:spPr>
        </p:sp>
        <p:sp>
          <p:nvSpPr>
            <p:cNvPr name="TextBox 6" id="6"/>
            <p:cNvSpPr txBox="true"/>
            <p:nvPr/>
          </p:nvSpPr>
          <p:spPr>
            <a:xfrm>
              <a:off x="0" y="-28575"/>
              <a:ext cx="2364475" cy="1568764"/>
            </a:xfrm>
            <a:prstGeom prst="rect">
              <a:avLst/>
            </a:prstGeom>
          </p:spPr>
          <p:txBody>
            <a:bodyPr anchor="ctr" rtlCol="false" tIns="68580" lIns="68580" bIns="68580" rIns="68580"/>
            <a:lstStyle/>
            <a:p>
              <a:pPr algn="ctr">
                <a:lnSpc>
                  <a:spcPts val="1889"/>
                </a:lnSpc>
              </a:pPr>
            </a:p>
          </p:txBody>
        </p:sp>
      </p:grpSp>
      <p:grpSp>
        <p:nvGrpSpPr>
          <p:cNvPr name="Group 7" id="7"/>
          <p:cNvGrpSpPr/>
          <p:nvPr/>
        </p:nvGrpSpPr>
        <p:grpSpPr>
          <a:xfrm rot="0">
            <a:off x="10333265" y="1402038"/>
            <a:ext cx="6552408" cy="4317083"/>
            <a:chOff x="0" y="0"/>
            <a:chExt cx="8736544" cy="5756111"/>
          </a:xfrm>
        </p:grpSpPr>
        <p:pic>
          <p:nvPicPr>
            <p:cNvPr name="Picture 8" id="8"/>
            <p:cNvPicPr>
              <a:picLocks noChangeAspect="true"/>
            </p:cNvPicPr>
            <p:nvPr/>
          </p:nvPicPr>
          <p:blipFill>
            <a:blip r:embed="rId2"/>
            <a:srcRect l="0" t="555" r="0" b="555"/>
            <a:stretch>
              <a:fillRect/>
            </a:stretch>
          </p:blipFill>
          <p:spPr>
            <a:xfrm flipH="false" flipV="false">
              <a:off x="0" y="0"/>
              <a:ext cx="8736544" cy="5756111"/>
            </a:xfrm>
            <a:prstGeom prst="rect">
              <a:avLst/>
            </a:prstGeom>
          </p:spPr>
        </p:pic>
      </p:grpSp>
      <p:sp>
        <p:nvSpPr>
          <p:cNvPr name="TextBox 9" id="9"/>
          <p:cNvSpPr txBox="true"/>
          <p:nvPr/>
        </p:nvSpPr>
        <p:spPr>
          <a:xfrm rot="0">
            <a:off x="1006871" y="2194114"/>
            <a:ext cx="7877184" cy="5741670"/>
          </a:xfrm>
          <a:prstGeom prst="rect">
            <a:avLst/>
          </a:prstGeom>
        </p:spPr>
        <p:txBody>
          <a:bodyPr anchor="t" rtlCol="false" tIns="0" lIns="0" bIns="0" rIns="0">
            <a:spAutoFit/>
          </a:bodyPr>
          <a:lstStyle/>
          <a:p>
            <a:pPr algn="l">
              <a:lnSpc>
                <a:spcPts val="4199"/>
              </a:lnSpc>
            </a:pPr>
            <a:r>
              <a:rPr lang="en-US" sz="2799">
                <a:solidFill>
                  <a:srgbClr val="2B2C30"/>
                </a:solidFill>
                <a:latin typeface="Public Sans"/>
                <a:ea typeface="Public Sans"/>
                <a:cs typeface="Public Sans"/>
                <a:sym typeface="Public Sans"/>
              </a:rPr>
              <a:t>WRITING_PATTERNS = [</a:t>
            </a:r>
          </a:p>
          <a:p>
            <a:pPr algn="l">
              <a:lnSpc>
                <a:spcPts val="4199"/>
              </a:lnSpc>
            </a:pPr>
            <a:r>
              <a:rPr lang="en-US" sz="2799">
                <a:solidFill>
                  <a:srgbClr val="2B2C30"/>
                </a:solidFill>
                <a:latin typeface="Public Sans"/>
                <a:ea typeface="Public Sans"/>
                <a:cs typeface="Public Sans"/>
                <a:sym typeface="Public Sans"/>
              </a:rPr>
              <a:t>  "clean",</a:t>
            </a:r>
          </a:p>
          <a:p>
            <a:pPr algn="l">
              <a:lnSpc>
                <a:spcPts val="4199"/>
              </a:lnSpc>
            </a:pPr>
            <a:r>
              <a:rPr lang="en-US" sz="2799">
                <a:solidFill>
                  <a:srgbClr val="2B2C30"/>
                </a:solidFill>
                <a:latin typeface="Public Sans"/>
                <a:ea typeface="Public Sans"/>
                <a:cs typeface="Public Sans"/>
                <a:sym typeface="Public Sans"/>
              </a:rPr>
              <a:t>  "no caps",</a:t>
            </a:r>
          </a:p>
          <a:p>
            <a:pPr algn="l">
              <a:lnSpc>
                <a:spcPts val="4199"/>
              </a:lnSpc>
            </a:pPr>
            <a:r>
              <a:rPr lang="en-US" sz="2799">
                <a:solidFill>
                  <a:srgbClr val="2B2C30"/>
                </a:solidFill>
                <a:latin typeface="Public Sans"/>
                <a:ea typeface="Public Sans"/>
                <a:cs typeface="Public Sans"/>
                <a:sym typeface="Public Sans"/>
              </a:rPr>
              <a:t>  "minor typos",</a:t>
            </a:r>
          </a:p>
          <a:p>
            <a:pPr algn="l">
              <a:lnSpc>
                <a:spcPts val="4199"/>
              </a:lnSpc>
            </a:pPr>
            <a:r>
              <a:rPr lang="en-US" sz="2799">
                <a:solidFill>
                  <a:srgbClr val="2B2C30"/>
                </a:solidFill>
                <a:latin typeface="Public Sans"/>
                <a:ea typeface="Public Sans"/>
                <a:cs typeface="Public Sans"/>
                <a:sym typeface="Public Sans"/>
              </a:rPr>
              <a:t>  "heavy typos",</a:t>
            </a:r>
          </a:p>
          <a:p>
            <a:pPr algn="l">
              <a:lnSpc>
                <a:spcPts val="4199"/>
              </a:lnSpc>
            </a:pPr>
            <a:r>
              <a:rPr lang="en-US" sz="2799">
                <a:solidFill>
                  <a:srgbClr val="2B2C30"/>
                </a:solidFill>
                <a:latin typeface="Public Sans"/>
                <a:ea typeface="Public Sans"/>
                <a:cs typeface="Public Sans"/>
                <a:sym typeface="Public Sans"/>
              </a:rPr>
              <a:t>  "shortened words",</a:t>
            </a:r>
          </a:p>
          <a:p>
            <a:pPr algn="l">
              <a:lnSpc>
                <a:spcPts val="4199"/>
              </a:lnSpc>
            </a:pPr>
            <a:r>
              <a:rPr lang="en-US" sz="2799">
                <a:solidFill>
                  <a:srgbClr val="2B2C30"/>
                </a:solidFill>
                <a:latin typeface="Public Sans"/>
                <a:ea typeface="Public Sans"/>
                <a:cs typeface="Public Sans"/>
                <a:sym typeface="Public Sans"/>
              </a:rPr>
              <a:t>  "messy spacing",</a:t>
            </a:r>
          </a:p>
          <a:p>
            <a:pPr algn="l">
              <a:lnSpc>
                <a:spcPts val="4199"/>
              </a:lnSpc>
            </a:pPr>
            <a:r>
              <a:rPr lang="en-US" sz="2799">
                <a:solidFill>
                  <a:srgbClr val="2B2C30"/>
                </a:solidFill>
                <a:latin typeface="Public Sans"/>
                <a:ea typeface="Public Sans"/>
                <a:cs typeface="Public Sans"/>
                <a:sym typeface="Public Sans"/>
              </a:rPr>
              <a:t>  "run on"</a:t>
            </a:r>
          </a:p>
          <a:p>
            <a:pPr algn="l">
              <a:lnSpc>
                <a:spcPts val="4199"/>
              </a:lnSpc>
            </a:pPr>
            <a:r>
              <a:rPr lang="en-US" sz="2799">
                <a:solidFill>
                  <a:srgbClr val="2B2C30"/>
                </a:solidFill>
                <a:latin typeface="Public Sans"/>
                <a:ea typeface="Public Sans"/>
                <a:cs typeface="Public Sans"/>
                <a:sym typeface="Public Sans"/>
              </a:rPr>
              <a:t>]</a:t>
            </a:r>
          </a:p>
          <a:p>
            <a:pPr algn="l">
              <a:lnSpc>
                <a:spcPts val="4199"/>
              </a:lnSpc>
            </a:pPr>
          </a:p>
          <a:p>
            <a:pPr algn="l">
              <a:lnSpc>
                <a:spcPts val="4199"/>
              </a:lnSpc>
            </a:pPr>
          </a:p>
        </p:txBody>
      </p:sp>
      <p:sp>
        <p:nvSpPr>
          <p:cNvPr name="TextBox 10" id="10"/>
          <p:cNvSpPr txBox="true"/>
          <p:nvPr/>
        </p:nvSpPr>
        <p:spPr>
          <a:xfrm rot="0">
            <a:off x="12698616" y="8984615"/>
            <a:ext cx="4560684" cy="273685"/>
          </a:xfrm>
          <a:prstGeom prst="rect">
            <a:avLst/>
          </a:prstGeom>
        </p:spPr>
        <p:txBody>
          <a:bodyPr anchor="t" rtlCol="false" tIns="0" lIns="0" bIns="0" rIns="0">
            <a:spAutoFit/>
          </a:bodyPr>
          <a:lstStyle/>
          <a:p>
            <a:pPr algn="r">
              <a:lnSpc>
                <a:spcPts val="2239"/>
              </a:lnSpc>
            </a:pPr>
            <a:r>
              <a:rPr lang="en-US" sz="1599">
                <a:solidFill>
                  <a:srgbClr val="331B0D"/>
                </a:solidFill>
                <a:latin typeface="Open Sauce"/>
                <a:ea typeface="Open Sauce"/>
                <a:cs typeface="Open Sauce"/>
                <a:sym typeface="Open Sauce"/>
              </a:rPr>
              <a:t>14</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EFEEE7"/>
        </a:solidFill>
      </p:bgPr>
    </p:bg>
    <p:spTree>
      <p:nvGrpSpPr>
        <p:cNvPr id="1" name=""/>
        <p:cNvGrpSpPr/>
        <p:nvPr/>
      </p:nvGrpSpPr>
      <p:grpSpPr>
        <a:xfrm>
          <a:off x="0" y="0"/>
          <a:ext cx="0" cy="0"/>
          <a:chOff x="0" y="0"/>
          <a:chExt cx="0" cy="0"/>
        </a:xfrm>
      </p:grpSpPr>
      <p:sp>
        <p:nvSpPr>
          <p:cNvPr name="TextBox 2" id="2"/>
          <p:cNvSpPr txBox="true"/>
          <p:nvPr/>
        </p:nvSpPr>
        <p:spPr>
          <a:xfrm rot="0">
            <a:off x="1006871" y="942975"/>
            <a:ext cx="16230600" cy="651099"/>
          </a:xfrm>
          <a:prstGeom prst="rect">
            <a:avLst/>
          </a:prstGeom>
        </p:spPr>
        <p:txBody>
          <a:bodyPr anchor="t" rtlCol="false" tIns="0" lIns="0" bIns="0" rIns="0">
            <a:spAutoFit/>
          </a:bodyPr>
          <a:lstStyle/>
          <a:p>
            <a:pPr algn="l">
              <a:lnSpc>
                <a:spcPts val="5200"/>
              </a:lnSpc>
              <a:spcBef>
                <a:spcPct val="0"/>
              </a:spcBef>
            </a:pPr>
            <a:r>
              <a:rPr lang="en-US" b="true" sz="3714" spc="843">
                <a:solidFill>
                  <a:srgbClr val="2B2C30"/>
                </a:solidFill>
                <a:latin typeface="Public Sans Bold"/>
                <a:ea typeface="Public Sans Bold"/>
                <a:cs typeface="Public Sans Bold"/>
                <a:sym typeface="Public Sans Bold"/>
              </a:rPr>
              <a:t>DATA DIVERSITY</a:t>
            </a:r>
          </a:p>
        </p:txBody>
      </p:sp>
      <p:sp>
        <p:nvSpPr>
          <p:cNvPr name="AutoShape 3" id="3"/>
          <p:cNvSpPr/>
          <p:nvPr/>
        </p:nvSpPr>
        <p:spPr>
          <a:xfrm flipV="true">
            <a:off x="-7086597" y="1760761"/>
            <a:ext cx="16230594" cy="38509"/>
          </a:xfrm>
          <a:prstGeom prst="line">
            <a:avLst/>
          </a:prstGeom>
          <a:ln cap="flat" w="9525">
            <a:solidFill>
              <a:srgbClr val="2B2C30"/>
            </a:solidFill>
            <a:prstDash val="solid"/>
            <a:headEnd type="none" len="sm" w="sm"/>
            <a:tailEnd type="none" len="sm" w="sm"/>
          </a:ln>
        </p:spPr>
      </p:sp>
      <p:grpSp>
        <p:nvGrpSpPr>
          <p:cNvPr name="Group 4" id="4"/>
          <p:cNvGrpSpPr/>
          <p:nvPr/>
        </p:nvGrpSpPr>
        <p:grpSpPr>
          <a:xfrm rot="0">
            <a:off x="9722567" y="1028700"/>
            <a:ext cx="7773804" cy="5063759"/>
            <a:chOff x="0" y="0"/>
            <a:chExt cx="2364475" cy="1540189"/>
          </a:xfrm>
        </p:grpSpPr>
        <p:sp>
          <p:nvSpPr>
            <p:cNvPr name="Freeform 5" id="5"/>
            <p:cNvSpPr/>
            <p:nvPr/>
          </p:nvSpPr>
          <p:spPr>
            <a:xfrm flipH="false" flipV="false" rot="0">
              <a:off x="0" y="0"/>
              <a:ext cx="2364475" cy="1540190"/>
            </a:xfrm>
            <a:custGeom>
              <a:avLst/>
              <a:gdLst/>
              <a:ahLst/>
              <a:cxnLst/>
              <a:rect r="r" b="b" t="t" l="l"/>
              <a:pathLst>
                <a:path h="1540190" w="2364475">
                  <a:moveTo>
                    <a:pt x="0" y="0"/>
                  </a:moveTo>
                  <a:lnTo>
                    <a:pt x="2364475" y="0"/>
                  </a:lnTo>
                  <a:lnTo>
                    <a:pt x="2364475" y="1540190"/>
                  </a:lnTo>
                  <a:lnTo>
                    <a:pt x="0" y="1540190"/>
                  </a:lnTo>
                  <a:close/>
                </a:path>
              </a:pathLst>
            </a:custGeom>
            <a:ln w="9525" cap="sq">
              <a:solidFill>
                <a:srgbClr val="2B2C30"/>
              </a:solidFill>
              <a:prstDash val="solid"/>
              <a:miter/>
            </a:ln>
          </p:spPr>
        </p:sp>
        <p:sp>
          <p:nvSpPr>
            <p:cNvPr name="TextBox 6" id="6"/>
            <p:cNvSpPr txBox="true"/>
            <p:nvPr/>
          </p:nvSpPr>
          <p:spPr>
            <a:xfrm>
              <a:off x="0" y="-28575"/>
              <a:ext cx="2364475" cy="1568764"/>
            </a:xfrm>
            <a:prstGeom prst="rect">
              <a:avLst/>
            </a:prstGeom>
          </p:spPr>
          <p:txBody>
            <a:bodyPr anchor="ctr" rtlCol="false" tIns="68580" lIns="68580" bIns="68580" rIns="68580"/>
            <a:lstStyle/>
            <a:p>
              <a:pPr algn="ctr">
                <a:lnSpc>
                  <a:spcPts val="1889"/>
                </a:lnSpc>
              </a:pPr>
            </a:p>
          </p:txBody>
        </p:sp>
      </p:grpSp>
      <p:grpSp>
        <p:nvGrpSpPr>
          <p:cNvPr name="Group 7" id="7"/>
          <p:cNvGrpSpPr/>
          <p:nvPr/>
        </p:nvGrpSpPr>
        <p:grpSpPr>
          <a:xfrm rot="0">
            <a:off x="10333265" y="1402038"/>
            <a:ext cx="6552408" cy="4317083"/>
            <a:chOff x="0" y="0"/>
            <a:chExt cx="8736544" cy="5756111"/>
          </a:xfrm>
        </p:grpSpPr>
        <p:pic>
          <p:nvPicPr>
            <p:cNvPr name="Picture 8" id="8"/>
            <p:cNvPicPr>
              <a:picLocks noChangeAspect="true"/>
            </p:cNvPicPr>
            <p:nvPr/>
          </p:nvPicPr>
          <p:blipFill>
            <a:blip r:embed="rId2"/>
            <a:srcRect l="0" t="555" r="0" b="555"/>
            <a:stretch>
              <a:fillRect/>
            </a:stretch>
          </p:blipFill>
          <p:spPr>
            <a:xfrm flipH="false" flipV="false">
              <a:off x="0" y="0"/>
              <a:ext cx="8736544" cy="5756111"/>
            </a:xfrm>
            <a:prstGeom prst="rect">
              <a:avLst/>
            </a:prstGeom>
          </p:spPr>
        </p:pic>
      </p:grpSp>
      <p:sp>
        <p:nvSpPr>
          <p:cNvPr name="TextBox 9" id="9"/>
          <p:cNvSpPr txBox="true"/>
          <p:nvPr/>
        </p:nvSpPr>
        <p:spPr>
          <a:xfrm rot="0">
            <a:off x="1006871" y="2194114"/>
            <a:ext cx="7877184" cy="3122295"/>
          </a:xfrm>
          <a:prstGeom prst="rect">
            <a:avLst/>
          </a:prstGeom>
        </p:spPr>
        <p:txBody>
          <a:bodyPr anchor="t" rtlCol="false" tIns="0" lIns="0" bIns="0" rIns="0">
            <a:spAutoFit/>
          </a:bodyPr>
          <a:lstStyle/>
          <a:p>
            <a:pPr algn="l">
              <a:lnSpc>
                <a:spcPts val="4199"/>
              </a:lnSpc>
            </a:pPr>
            <a:r>
              <a:rPr lang="en-US" sz="2799">
                <a:solidFill>
                  <a:srgbClr val="2B2C30"/>
                </a:solidFill>
                <a:latin typeface="Public Sans"/>
                <a:ea typeface="Public Sans"/>
                <a:cs typeface="Public Sans"/>
                <a:sym typeface="Public Sans"/>
              </a:rPr>
              <a:t>VERBOSITY = [</a:t>
            </a:r>
          </a:p>
          <a:p>
            <a:pPr algn="l">
              <a:lnSpc>
                <a:spcPts val="4199"/>
              </a:lnSpc>
            </a:pPr>
            <a:r>
              <a:rPr lang="en-US" sz="2799">
                <a:solidFill>
                  <a:srgbClr val="2B2C30"/>
                </a:solidFill>
                <a:latin typeface="Public Sans"/>
                <a:ea typeface="Public Sans"/>
                <a:cs typeface="Public Sans"/>
                <a:sym typeface="Public Sans"/>
              </a:rPr>
              <a:t>  </a:t>
            </a:r>
            <a:r>
              <a:rPr lang="en-US" sz="2799">
                <a:solidFill>
                  <a:srgbClr val="2B2C30"/>
                </a:solidFill>
                <a:latin typeface="Public Sans"/>
                <a:ea typeface="Public Sans"/>
                <a:cs typeface="Public Sans"/>
                <a:sym typeface="Public Sans"/>
              </a:rPr>
              <a:t>"one word",</a:t>
            </a:r>
          </a:p>
          <a:p>
            <a:pPr algn="l">
              <a:lnSpc>
                <a:spcPts val="4199"/>
              </a:lnSpc>
            </a:pPr>
            <a:r>
              <a:rPr lang="en-US" sz="2799">
                <a:solidFill>
                  <a:srgbClr val="2B2C30"/>
                </a:solidFill>
                <a:latin typeface="Public Sans"/>
                <a:ea typeface="Public Sans"/>
                <a:cs typeface="Public Sans"/>
                <a:sym typeface="Public Sans"/>
              </a:rPr>
              <a:t>  </a:t>
            </a:r>
            <a:r>
              <a:rPr lang="en-US" sz="2799">
                <a:solidFill>
                  <a:srgbClr val="2B2C30"/>
                </a:solidFill>
                <a:latin typeface="Public Sans"/>
                <a:ea typeface="Public Sans"/>
                <a:cs typeface="Public Sans"/>
                <a:sym typeface="Public Sans"/>
              </a:rPr>
              <a:t>"one sentence",</a:t>
            </a:r>
          </a:p>
          <a:p>
            <a:pPr algn="l">
              <a:lnSpc>
                <a:spcPts val="4199"/>
              </a:lnSpc>
            </a:pPr>
            <a:r>
              <a:rPr lang="en-US" sz="2799">
                <a:solidFill>
                  <a:srgbClr val="2B2C30"/>
                </a:solidFill>
                <a:latin typeface="Public Sans"/>
                <a:ea typeface="Public Sans"/>
                <a:cs typeface="Public Sans"/>
                <a:sym typeface="Public Sans"/>
              </a:rPr>
              <a:t>  </a:t>
            </a:r>
            <a:r>
              <a:rPr lang="en-US" sz="2799">
                <a:solidFill>
                  <a:srgbClr val="2B2C30"/>
                </a:solidFill>
                <a:latin typeface="Public Sans"/>
                <a:ea typeface="Public Sans"/>
                <a:cs typeface="Public Sans"/>
                <a:sym typeface="Public Sans"/>
              </a:rPr>
              <a:t>"two sentences"</a:t>
            </a:r>
          </a:p>
          <a:p>
            <a:pPr algn="l">
              <a:lnSpc>
                <a:spcPts val="4199"/>
              </a:lnSpc>
            </a:pPr>
            <a:r>
              <a:rPr lang="en-US" sz="2799">
                <a:solidFill>
                  <a:srgbClr val="2B2C30"/>
                </a:solidFill>
                <a:latin typeface="Public Sans"/>
                <a:ea typeface="Public Sans"/>
                <a:cs typeface="Public Sans"/>
                <a:sym typeface="Public Sans"/>
              </a:rPr>
              <a:t>]</a:t>
            </a:r>
          </a:p>
          <a:p>
            <a:pPr algn="l">
              <a:lnSpc>
                <a:spcPts val="4199"/>
              </a:lnSpc>
            </a:pPr>
          </a:p>
        </p:txBody>
      </p:sp>
      <p:sp>
        <p:nvSpPr>
          <p:cNvPr name="TextBox 10" id="10"/>
          <p:cNvSpPr txBox="true"/>
          <p:nvPr/>
        </p:nvSpPr>
        <p:spPr>
          <a:xfrm rot="0">
            <a:off x="12698616" y="8984615"/>
            <a:ext cx="4560684" cy="273685"/>
          </a:xfrm>
          <a:prstGeom prst="rect">
            <a:avLst/>
          </a:prstGeom>
        </p:spPr>
        <p:txBody>
          <a:bodyPr anchor="t" rtlCol="false" tIns="0" lIns="0" bIns="0" rIns="0">
            <a:spAutoFit/>
          </a:bodyPr>
          <a:lstStyle/>
          <a:p>
            <a:pPr algn="r">
              <a:lnSpc>
                <a:spcPts val="2239"/>
              </a:lnSpc>
            </a:pPr>
            <a:r>
              <a:rPr lang="en-US" sz="1599">
                <a:solidFill>
                  <a:srgbClr val="331B0D"/>
                </a:solidFill>
                <a:latin typeface="Open Sauce"/>
                <a:ea typeface="Open Sauce"/>
                <a:cs typeface="Open Sauce"/>
                <a:sym typeface="Open Sauce"/>
              </a:rPr>
              <a:t>15</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EFEEE7"/>
        </a:solidFill>
      </p:bgPr>
    </p:bg>
    <p:spTree>
      <p:nvGrpSpPr>
        <p:cNvPr id="1" name=""/>
        <p:cNvGrpSpPr/>
        <p:nvPr/>
      </p:nvGrpSpPr>
      <p:grpSpPr>
        <a:xfrm>
          <a:off x="0" y="0"/>
          <a:ext cx="0" cy="0"/>
          <a:chOff x="0" y="0"/>
          <a:chExt cx="0" cy="0"/>
        </a:xfrm>
      </p:grpSpPr>
      <p:sp>
        <p:nvSpPr>
          <p:cNvPr name="AutoShape 2" id="2"/>
          <p:cNvSpPr/>
          <p:nvPr/>
        </p:nvSpPr>
        <p:spPr>
          <a:xfrm flipV="true">
            <a:off x="1028695" y="1760761"/>
            <a:ext cx="16230594" cy="38509"/>
          </a:xfrm>
          <a:prstGeom prst="line">
            <a:avLst/>
          </a:prstGeom>
          <a:ln cap="flat" w="9525">
            <a:solidFill>
              <a:srgbClr val="2B2C30"/>
            </a:solidFill>
            <a:prstDash val="solid"/>
            <a:headEnd type="none" len="sm" w="sm"/>
            <a:tailEnd type="none" len="sm" w="sm"/>
          </a:ln>
        </p:spPr>
      </p:sp>
      <p:sp>
        <p:nvSpPr>
          <p:cNvPr name="Freeform 3" id="3"/>
          <p:cNvSpPr/>
          <p:nvPr/>
        </p:nvSpPr>
        <p:spPr>
          <a:xfrm flipH="false" flipV="false" rot="0">
            <a:off x="-21829" y="1799270"/>
            <a:ext cx="18288000" cy="4621678"/>
          </a:xfrm>
          <a:custGeom>
            <a:avLst/>
            <a:gdLst/>
            <a:ahLst/>
            <a:cxnLst/>
            <a:rect r="r" b="b" t="t" l="l"/>
            <a:pathLst>
              <a:path h="4621678" w="18288000">
                <a:moveTo>
                  <a:pt x="0" y="0"/>
                </a:moveTo>
                <a:lnTo>
                  <a:pt x="18288000" y="0"/>
                </a:lnTo>
                <a:lnTo>
                  <a:pt x="18288000" y="4621677"/>
                </a:lnTo>
                <a:lnTo>
                  <a:pt x="0" y="4621677"/>
                </a:lnTo>
                <a:lnTo>
                  <a:pt x="0" y="0"/>
                </a:lnTo>
                <a:close/>
              </a:path>
            </a:pathLst>
          </a:custGeom>
          <a:blipFill>
            <a:blip r:embed="rId2"/>
            <a:stretch>
              <a:fillRect l="0" t="0" r="-679" b="-2087"/>
            </a:stretch>
          </a:blipFill>
        </p:spPr>
      </p:sp>
      <p:sp>
        <p:nvSpPr>
          <p:cNvPr name="Freeform 4" id="4"/>
          <p:cNvSpPr/>
          <p:nvPr/>
        </p:nvSpPr>
        <p:spPr>
          <a:xfrm flipH="false" flipV="false" rot="0">
            <a:off x="3892203" y="6420947"/>
            <a:ext cx="10503593" cy="3961882"/>
          </a:xfrm>
          <a:custGeom>
            <a:avLst/>
            <a:gdLst/>
            <a:ahLst/>
            <a:cxnLst/>
            <a:rect r="r" b="b" t="t" l="l"/>
            <a:pathLst>
              <a:path h="3961882" w="10503593">
                <a:moveTo>
                  <a:pt x="0" y="0"/>
                </a:moveTo>
                <a:lnTo>
                  <a:pt x="10503594" y="0"/>
                </a:lnTo>
                <a:lnTo>
                  <a:pt x="10503594" y="3961882"/>
                </a:lnTo>
                <a:lnTo>
                  <a:pt x="0" y="3961882"/>
                </a:lnTo>
                <a:lnTo>
                  <a:pt x="0" y="0"/>
                </a:lnTo>
                <a:close/>
              </a:path>
            </a:pathLst>
          </a:custGeom>
          <a:blipFill>
            <a:blip r:embed="rId3"/>
            <a:stretch>
              <a:fillRect l="0" t="0" r="0" b="0"/>
            </a:stretch>
          </a:blipFill>
        </p:spPr>
      </p:sp>
      <p:sp>
        <p:nvSpPr>
          <p:cNvPr name="TextBox 5" id="5"/>
          <p:cNvSpPr txBox="true"/>
          <p:nvPr/>
        </p:nvSpPr>
        <p:spPr>
          <a:xfrm rot="0">
            <a:off x="1006871" y="942975"/>
            <a:ext cx="16230600" cy="651099"/>
          </a:xfrm>
          <a:prstGeom prst="rect">
            <a:avLst/>
          </a:prstGeom>
        </p:spPr>
        <p:txBody>
          <a:bodyPr anchor="t" rtlCol="false" tIns="0" lIns="0" bIns="0" rIns="0">
            <a:spAutoFit/>
          </a:bodyPr>
          <a:lstStyle/>
          <a:p>
            <a:pPr algn="l">
              <a:lnSpc>
                <a:spcPts val="5200"/>
              </a:lnSpc>
              <a:spcBef>
                <a:spcPct val="0"/>
              </a:spcBef>
            </a:pPr>
            <a:r>
              <a:rPr lang="en-US" b="true" sz="3714" spc="843">
                <a:solidFill>
                  <a:srgbClr val="2B2C30"/>
                </a:solidFill>
                <a:latin typeface="Public Sans Bold"/>
                <a:ea typeface="Public Sans Bold"/>
                <a:cs typeface="Public Sans Bold"/>
                <a:sym typeface="Public Sans Bold"/>
              </a:rPr>
              <a:t>WEIGHTS &amp; BIASES - EVAL</a:t>
            </a:r>
          </a:p>
        </p:txBody>
      </p:sp>
      <p:sp>
        <p:nvSpPr>
          <p:cNvPr name="TextBox 6" id="6"/>
          <p:cNvSpPr txBox="true"/>
          <p:nvPr/>
        </p:nvSpPr>
        <p:spPr>
          <a:xfrm rot="0">
            <a:off x="12698616" y="8984615"/>
            <a:ext cx="4560684" cy="273685"/>
          </a:xfrm>
          <a:prstGeom prst="rect">
            <a:avLst/>
          </a:prstGeom>
        </p:spPr>
        <p:txBody>
          <a:bodyPr anchor="t" rtlCol="false" tIns="0" lIns="0" bIns="0" rIns="0">
            <a:spAutoFit/>
          </a:bodyPr>
          <a:lstStyle/>
          <a:p>
            <a:pPr algn="r">
              <a:lnSpc>
                <a:spcPts val="2239"/>
              </a:lnSpc>
            </a:pPr>
            <a:r>
              <a:rPr lang="en-US" sz="1599">
                <a:solidFill>
                  <a:srgbClr val="331B0D"/>
                </a:solidFill>
                <a:latin typeface="Open Sauce"/>
                <a:ea typeface="Open Sauce"/>
                <a:cs typeface="Open Sauce"/>
                <a:sym typeface="Open Sauce"/>
              </a:rPr>
              <a:t>16</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EFEEE7"/>
        </a:solidFill>
      </p:bgPr>
    </p:bg>
    <p:spTree>
      <p:nvGrpSpPr>
        <p:cNvPr id="1" name=""/>
        <p:cNvGrpSpPr/>
        <p:nvPr/>
      </p:nvGrpSpPr>
      <p:grpSpPr>
        <a:xfrm>
          <a:off x="0" y="0"/>
          <a:ext cx="0" cy="0"/>
          <a:chOff x="0" y="0"/>
          <a:chExt cx="0" cy="0"/>
        </a:xfrm>
      </p:grpSpPr>
      <p:sp>
        <p:nvSpPr>
          <p:cNvPr name="AutoShape 2" id="2"/>
          <p:cNvSpPr/>
          <p:nvPr/>
        </p:nvSpPr>
        <p:spPr>
          <a:xfrm flipV="true">
            <a:off x="1028695" y="1760761"/>
            <a:ext cx="16230594" cy="38509"/>
          </a:xfrm>
          <a:prstGeom prst="line">
            <a:avLst/>
          </a:prstGeom>
          <a:ln cap="flat" w="9525">
            <a:solidFill>
              <a:srgbClr val="2B2C30"/>
            </a:solidFill>
            <a:prstDash val="solid"/>
            <a:headEnd type="none" len="sm" w="sm"/>
            <a:tailEnd type="none" len="sm" w="sm"/>
          </a:ln>
        </p:spPr>
      </p:sp>
      <p:sp>
        <p:nvSpPr>
          <p:cNvPr name="Freeform 3" id="3"/>
          <p:cNvSpPr/>
          <p:nvPr/>
        </p:nvSpPr>
        <p:spPr>
          <a:xfrm flipH="false" flipV="false" rot="0">
            <a:off x="0" y="1799270"/>
            <a:ext cx="18376815" cy="4709059"/>
          </a:xfrm>
          <a:custGeom>
            <a:avLst/>
            <a:gdLst/>
            <a:ahLst/>
            <a:cxnLst/>
            <a:rect r="r" b="b" t="t" l="l"/>
            <a:pathLst>
              <a:path h="4709059" w="18376815">
                <a:moveTo>
                  <a:pt x="0" y="0"/>
                </a:moveTo>
                <a:lnTo>
                  <a:pt x="18376815" y="0"/>
                </a:lnTo>
                <a:lnTo>
                  <a:pt x="18376815" y="4709059"/>
                </a:lnTo>
                <a:lnTo>
                  <a:pt x="0" y="4709059"/>
                </a:lnTo>
                <a:lnTo>
                  <a:pt x="0" y="0"/>
                </a:lnTo>
                <a:close/>
              </a:path>
            </a:pathLst>
          </a:custGeom>
          <a:blipFill>
            <a:blip r:embed="rId2"/>
            <a:stretch>
              <a:fillRect l="0" t="0" r="0" b="0"/>
            </a:stretch>
          </a:blipFill>
        </p:spPr>
      </p:sp>
      <p:sp>
        <p:nvSpPr>
          <p:cNvPr name="Freeform 4" id="4"/>
          <p:cNvSpPr/>
          <p:nvPr/>
        </p:nvSpPr>
        <p:spPr>
          <a:xfrm flipH="false" flipV="false" rot="0">
            <a:off x="548456" y="6508329"/>
            <a:ext cx="16287029" cy="3074177"/>
          </a:xfrm>
          <a:custGeom>
            <a:avLst/>
            <a:gdLst/>
            <a:ahLst/>
            <a:cxnLst/>
            <a:rect r="r" b="b" t="t" l="l"/>
            <a:pathLst>
              <a:path h="3074177" w="16287029">
                <a:moveTo>
                  <a:pt x="0" y="0"/>
                </a:moveTo>
                <a:lnTo>
                  <a:pt x="16287029" y="0"/>
                </a:lnTo>
                <a:lnTo>
                  <a:pt x="16287029" y="3074176"/>
                </a:lnTo>
                <a:lnTo>
                  <a:pt x="0" y="3074176"/>
                </a:lnTo>
                <a:lnTo>
                  <a:pt x="0" y="0"/>
                </a:lnTo>
                <a:close/>
              </a:path>
            </a:pathLst>
          </a:custGeom>
          <a:blipFill>
            <a:blip r:embed="rId3"/>
            <a:stretch>
              <a:fillRect l="0" t="0" r="0" b="0"/>
            </a:stretch>
          </a:blipFill>
        </p:spPr>
      </p:sp>
      <p:sp>
        <p:nvSpPr>
          <p:cNvPr name="TextBox 5" id="5"/>
          <p:cNvSpPr txBox="true"/>
          <p:nvPr/>
        </p:nvSpPr>
        <p:spPr>
          <a:xfrm rot="0">
            <a:off x="1006871" y="942975"/>
            <a:ext cx="16230600" cy="651099"/>
          </a:xfrm>
          <a:prstGeom prst="rect">
            <a:avLst/>
          </a:prstGeom>
        </p:spPr>
        <p:txBody>
          <a:bodyPr anchor="t" rtlCol="false" tIns="0" lIns="0" bIns="0" rIns="0">
            <a:spAutoFit/>
          </a:bodyPr>
          <a:lstStyle/>
          <a:p>
            <a:pPr algn="l">
              <a:lnSpc>
                <a:spcPts val="5200"/>
              </a:lnSpc>
              <a:spcBef>
                <a:spcPct val="0"/>
              </a:spcBef>
            </a:pPr>
            <a:r>
              <a:rPr lang="en-US" b="true" sz="3714" spc="843">
                <a:solidFill>
                  <a:srgbClr val="2B2C30"/>
                </a:solidFill>
                <a:latin typeface="Public Sans Bold"/>
                <a:ea typeface="Public Sans Bold"/>
                <a:cs typeface="Public Sans Bold"/>
                <a:sym typeface="Public Sans Bold"/>
              </a:rPr>
              <a:t>WEIGHTS &amp; BIASES - TRAIN</a:t>
            </a:r>
          </a:p>
        </p:txBody>
      </p:sp>
      <p:sp>
        <p:nvSpPr>
          <p:cNvPr name="TextBox 6" id="6"/>
          <p:cNvSpPr txBox="true"/>
          <p:nvPr/>
        </p:nvSpPr>
        <p:spPr>
          <a:xfrm rot="0">
            <a:off x="12698616" y="8984615"/>
            <a:ext cx="4560684" cy="273685"/>
          </a:xfrm>
          <a:prstGeom prst="rect">
            <a:avLst/>
          </a:prstGeom>
        </p:spPr>
        <p:txBody>
          <a:bodyPr anchor="t" rtlCol="false" tIns="0" lIns="0" bIns="0" rIns="0">
            <a:spAutoFit/>
          </a:bodyPr>
          <a:lstStyle/>
          <a:p>
            <a:pPr algn="r">
              <a:lnSpc>
                <a:spcPts val="2239"/>
              </a:lnSpc>
            </a:pPr>
            <a:r>
              <a:rPr lang="en-US" sz="1599">
                <a:solidFill>
                  <a:srgbClr val="331B0D"/>
                </a:solidFill>
                <a:latin typeface="Open Sauce"/>
                <a:ea typeface="Open Sauce"/>
                <a:cs typeface="Open Sauce"/>
                <a:sym typeface="Open Sauce"/>
              </a:rPr>
              <a:t>17</a:t>
            </a:r>
          </a:p>
        </p:txBody>
      </p:sp>
    </p:spTree>
  </p:cSld>
  <p:clrMapOvr>
    <a:masterClrMapping/>
  </p:clrMapOvr>
</p:sld>
</file>

<file path=ppt/slides/slide18.xml><?xml version="1.0" encoding="utf-8"?>
<p:sld xmlns:p="http://schemas.openxmlformats.org/presentationml/2006/main" xmlns:a="http://schemas.openxmlformats.org/drawingml/2006/main">
  <p:cSld>
    <p:bg>
      <p:bgPr>
        <a:solidFill>
          <a:srgbClr val="EFEEE7"/>
        </a:solidFill>
      </p:bgPr>
    </p:bg>
    <p:spTree>
      <p:nvGrpSpPr>
        <p:cNvPr id="1" name=""/>
        <p:cNvGrpSpPr/>
        <p:nvPr/>
      </p:nvGrpSpPr>
      <p:grpSpPr>
        <a:xfrm>
          <a:off x="0" y="0"/>
          <a:ext cx="0" cy="0"/>
          <a:chOff x="0" y="0"/>
          <a:chExt cx="0" cy="0"/>
        </a:xfrm>
      </p:grpSpPr>
      <p:sp>
        <p:nvSpPr>
          <p:cNvPr name="TextBox 2" id="2"/>
          <p:cNvSpPr txBox="true"/>
          <p:nvPr/>
        </p:nvSpPr>
        <p:spPr>
          <a:xfrm rot="0">
            <a:off x="1006871" y="942975"/>
            <a:ext cx="16230600" cy="651099"/>
          </a:xfrm>
          <a:prstGeom prst="rect">
            <a:avLst/>
          </a:prstGeom>
        </p:spPr>
        <p:txBody>
          <a:bodyPr anchor="t" rtlCol="false" tIns="0" lIns="0" bIns="0" rIns="0">
            <a:spAutoFit/>
          </a:bodyPr>
          <a:lstStyle/>
          <a:p>
            <a:pPr algn="l">
              <a:lnSpc>
                <a:spcPts val="5200"/>
              </a:lnSpc>
              <a:spcBef>
                <a:spcPct val="0"/>
              </a:spcBef>
            </a:pPr>
            <a:r>
              <a:rPr lang="en-US" b="true" sz="3714" spc="843">
                <a:solidFill>
                  <a:srgbClr val="2B2C30"/>
                </a:solidFill>
                <a:latin typeface="Public Sans Bold"/>
                <a:ea typeface="Public Sans Bold"/>
                <a:cs typeface="Public Sans Bold"/>
                <a:sym typeface="Public Sans Bold"/>
              </a:rPr>
              <a:t>GPT 5 NANO</a:t>
            </a:r>
          </a:p>
        </p:txBody>
      </p:sp>
      <p:sp>
        <p:nvSpPr>
          <p:cNvPr name="AutoShape 3" id="3"/>
          <p:cNvSpPr/>
          <p:nvPr/>
        </p:nvSpPr>
        <p:spPr>
          <a:xfrm flipV="true">
            <a:off x="1028695" y="1760761"/>
            <a:ext cx="16230594" cy="38509"/>
          </a:xfrm>
          <a:prstGeom prst="line">
            <a:avLst/>
          </a:prstGeom>
          <a:ln cap="flat" w="9525">
            <a:solidFill>
              <a:srgbClr val="2B2C30"/>
            </a:solidFill>
            <a:prstDash val="solid"/>
            <a:headEnd type="none" len="sm" w="sm"/>
            <a:tailEnd type="none" len="sm" w="sm"/>
          </a:ln>
        </p:spPr>
      </p:sp>
      <p:sp>
        <p:nvSpPr>
          <p:cNvPr name="TextBox 4" id="4"/>
          <p:cNvSpPr txBox="true"/>
          <p:nvPr/>
        </p:nvSpPr>
        <p:spPr>
          <a:xfrm rot="0">
            <a:off x="12698616" y="8984615"/>
            <a:ext cx="4560684" cy="273685"/>
          </a:xfrm>
          <a:prstGeom prst="rect">
            <a:avLst/>
          </a:prstGeom>
        </p:spPr>
        <p:txBody>
          <a:bodyPr anchor="t" rtlCol="false" tIns="0" lIns="0" bIns="0" rIns="0">
            <a:spAutoFit/>
          </a:bodyPr>
          <a:lstStyle/>
          <a:p>
            <a:pPr algn="r">
              <a:lnSpc>
                <a:spcPts val="2239"/>
              </a:lnSpc>
            </a:pPr>
            <a:r>
              <a:rPr lang="en-US" sz="1599">
                <a:solidFill>
                  <a:srgbClr val="331B0D"/>
                </a:solidFill>
                <a:latin typeface="Open Sauce"/>
                <a:ea typeface="Open Sauce"/>
                <a:cs typeface="Open Sauce"/>
                <a:sym typeface="Open Sauce"/>
              </a:rPr>
              <a:t>18</a:t>
            </a:r>
          </a:p>
        </p:txBody>
      </p:sp>
      <p:sp>
        <p:nvSpPr>
          <p:cNvPr name="TextBox 5" id="5"/>
          <p:cNvSpPr txBox="true"/>
          <p:nvPr/>
        </p:nvSpPr>
        <p:spPr>
          <a:xfrm rot="0">
            <a:off x="1028689" y="2227065"/>
            <a:ext cx="7877184" cy="1026795"/>
          </a:xfrm>
          <a:prstGeom prst="rect">
            <a:avLst/>
          </a:prstGeom>
        </p:spPr>
        <p:txBody>
          <a:bodyPr anchor="t" rtlCol="false" tIns="0" lIns="0" bIns="0" rIns="0">
            <a:spAutoFit/>
          </a:bodyPr>
          <a:lstStyle/>
          <a:p>
            <a:pPr algn="l" marL="604519" indent="-302260" lvl="1">
              <a:lnSpc>
                <a:spcPts val="4199"/>
              </a:lnSpc>
              <a:buFont typeface="Arial"/>
              <a:buChar char="•"/>
            </a:pPr>
            <a:r>
              <a:rPr lang="en-US" sz="2799">
                <a:solidFill>
                  <a:srgbClr val="2B2C30"/>
                </a:solidFill>
                <a:latin typeface="Public Sans"/>
                <a:ea typeface="Public Sans"/>
                <a:cs typeface="Public Sans"/>
                <a:sym typeface="Public Sans"/>
              </a:rPr>
              <a:t>Accessed through OpenRouter, with an HTTP call and an API Key.</a:t>
            </a:r>
          </a:p>
        </p:txBody>
      </p:sp>
      <p:sp>
        <p:nvSpPr>
          <p:cNvPr name="TextBox 6" id="6"/>
          <p:cNvSpPr txBox="true"/>
          <p:nvPr/>
        </p:nvSpPr>
        <p:spPr>
          <a:xfrm rot="0">
            <a:off x="1028700" y="4272340"/>
            <a:ext cx="16230600" cy="4170045"/>
          </a:xfrm>
          <a:prstGeom prst="rect">
            <a:avLst/>
          </a:prstGeom>
        </p:spPr>
        <p:txBody>
          <a:bodyPr anchor="t" rtlCol="false" tIns="0" lIns="0" bIns="0" rIns="0">
            <a:spAutoFit/>
          </a:bodyPr>
          <a:lstStyle/>
          <a:p>
            <a:pPr algn="ctr">
              <a:lnSpc>
                <a:spcPts val="4199"/>
              </a:lnSpc>
              <a:spcBef>
                <a:spcPct val="0"/>
              </a:spcBef>
            </a:pPr>
            <a:r>
              <a:rPr lang="en-US" sz="2799">
                <a:solidFill>
                  <a:srgbClr val="000000"/>
                </a:solidFill>
                <a:latin typeface="Public Sans"/>
                <a:ea typeface="Public Sans"/>
                <a:cs typeface="Public Sans"/>
                <a:sym typeface="Public Sans"/>
              </a:rPr>
              <a:t>You are a chatbot. Adapt your tone to match this player profile. Your only job is to talk to the player. Do not use any special characters.</a:t>
            </a:r>
          </a:p>
          <a:p>
            <a:pPr algn="ctr">
              <a:lnSpc>
                <a:spcPts val="4199"/>
              </a:lnSpc>
              <a:spcBef>
                <a:spcPct val="0"/>
              </a:spcBef>
            </a:pPr>
          </a:p>
          <a:p>
            <a:pPr algn="ctr">
              <a:lnSpc>
                <a:spcPts val="4199"/>
              </a:lnSpc>
              <a:spcBef>
                <a:spcPct val="0"/>
              </a:spcBef>
            </a:pPr>
            <a:r>
              <a:rPr lang="en-US" sz="2799">
                <a:solidFill>
                  <a:srgbClr val="000000"/>
                </a:solidFill>
                <a:latin typeface="Public Sans"/>
                <a:ea typeface="Public Sans"/>
                <a:cs typeface="Public Sans"/>
                <a:sym typeface="Public Sans"/>
              </a:rPr>
              <a:t>Player profile scores: {_playerProfile.ToPromptSummary()}</a:t>
            </a:r>
          </a:p>
          <a:p>
            <a:pPr algn="ctr">
              <a:lnSpc>
                <a:spcPts val="4199"/>
              </a:lnSpc>
              <a:spcBef>
                <a:spcPct val="0"/>
              </a:spcBef>
            </a:pPr>
            <a:r>
              <a:rPr lang="en-US" sz="2799">
                <a:solidFill>
                  <a:srgbClr val="000000"/>
                </a:solidFill>
                <a:latin typeface="Public Sans"/>
                <a:ea typeface="Public Sans"/>
                <a:cs typeface="Public Sans"/>
                <a:sym typeface="Public Sans"/>
              </a:rPr>
              <a:t>Dominant style: {_playerProfile.DominantType()}</a:t>
            </a:r>
          </a:p>
          <a:p>
            <a:pPr algn="ctr">
              <a:lnSpc>
                <a:spcPts val="4199"/>
              </a:lnSpc>
              <a:spcBef>
                <a:spcPct val="0"/>
              </a:spcBef>
            </a:pPr>
          </a:p>
          <a:p>
            <a:pPr algn="ctr">
              <a:lnSpc>
                <a:spcPts val="4199"/>
              </a:lnSpc>
              <a:spcBef>
                <a:spcPct val="0"/>
              </a:spcBef>
            </a:pPr>
            <a:r>
              <a:rPr lang="en-US" sz="2799">
                <a:solidFill>
                  <a:srgbClr val="000000"/>
                </a:solidFill>
                <a:latin typeface="Public Sans"/>
                <a:ea typeface="Public Sans"/>
                <a:cs typeface="Public Sans"/>
                <a:sym typeface="Public Sans"/>
              </a:rPr>
              <a:t>Adjust your response length, formality, and energy to suit this player. Do NOT provide anything besides messages."</a:t>
            </a:r>
          </a:p>
        </p:txBody>
      </p:sp>
      <p:sp>
        <p:nvSpPr>
          <p:cNvPr name="TextBox 7" id="7"/>
          <p:cNvSpPr txBox="true"/>
          <p:nvPr/>
        </p:nvSpPr>
        <p:spPr>
          <a:xfrm rot="0">
            <a:off x="1006871" y="3330060"/>
            <a:ext cx="7877184" cy="502920"/>
          </a:xfrm>
          <a:prstGeom prst="rect">
            <a:avLst/>
          </a:prstGeom>
        </p:spPr>
        <p:txBody>
          <a:bodyPr anchor="t" rtlCol="false" tIns="0" lIns="0" bIns="0" rIns="0">
            <a:spAutoFit/>
          </a:bodyPr>
          <a:lstStyle/>
          <a:p>
            <a:pPr algn="l" marL="604519" indent="-302260" lvl="1">
              <a:lnSpc>
                <a:spcPts val="4199"/>
              </a:lnSpc>
              <a:buFont typeface="Arial"/>
              <a:buChar char="•"/>
            </a:pPr>
            <a:r>
              <a:rPr lang="en-US" sz="2799">
                <a:solidFill>
                  <a:srgbClr val="2B2C30"/>
                </a:solidFill>
                <a:latin typeface="Public Sans"/>
                <a:ea typeface="Public Sans"/>
                <a:cs typeface="Public Sans"/>
                <a:sym typeface="Public Sans"/>
              </a:rPr>
              <a:t>Handed the following system prompt:</a:t>
            </a:r>
          </a:p>
        </p:txBody>
      </p:sp>
    </p:spTree>
  </p:cSld>
  <p:clrMapOvr>
    <a:masterClrMapping/>
  </p:clrMapOvr>
</p:sld>
</file>

<file path=ppt/slides/slide19.xml><?xml version="1.0" encoding="utf-8"?>
<p:sld xmlns:p="http://schemas.openxmlformats.org/presentationml/2006/main" xmlns:a="http://schemas.openxmlformats.org/drawingml/2006/main">
  <p:cSld>
    <p:bg>
      <p:bgPr>
        <a:solidFill>
          <a:srgbClr val="EFEEE7"/>
        </a:solidFill>
      </p:bgPr>
    </p:bg>
    <p:spTree>
      <p:nvGrpSpPr>
        <p:cNvPr id="1" name=""/>
        <p:cNvGrpSpPr/>
        <p:nvPr/>
      </p:nvGrpSpPr>
      <p:grpSpPr>
        <a:xfrm>
          <a:off x="0" y="0"/>
          <a:ext cx="0" cy="0"/>
          <a:chOff x="0" y="0"/>
          <a:chExt cx="0" cy="0"/>
        </a:xfrm>
      </p:grpSpPr>
      <p:sp>
        <p:nvSpPr>
          <p:cNvPr name="TextBox 2" id="2"/>
          <p:cNvSpPr txBox="true"/>
          <p:nvPr/>
        </p:nvSpPr>
        <p:spPr>
          <a:xfrm rot="0">
            <a:off x="933450" y="2696608"/>
            <a:ext cx="10910528" cy="3386490"/>
          </a:xfrm>
          <a:prstGeom prst="rect">
            <a:avLst/>
          </a:prstGeom>
        </p:spPr>
        <p:txBody>
          <a:bodyPr anchor="t" rtlCol="false" tIns="0" lIns="0" bIns="0" rIns="0">
            <a:spAutoFit/>
          </a:bodyPr>
          <a:lstStyle/>
          <a:p>
            <a:pPr algn="l">
              <a:lnSpc>
                <a:spcPts val="13040"/>
              </a:lnSpc>
            </a:pPr>
            <a:r>
              <a:rPr lang="en-US" sz="13040" spc="-782">
                <a:solidFill>
                  <a:srgbClr val="331B0D"/>
                </a:solidFill>
                <a:latin typeface="Open Sauce"/>
                <a:ea typeface="Open Sauce"/>
                <a:cs typeface="Open Sauce"/>
                <a:sym typeface="Open Sauce"/>
              </a:rPr>
              <a:t>The Ethics Behind it all</a:t>
            </a:r>
          </a:p>
        </p:txBody>
      </p:sp>
      <p:sp>
        <p:nvSpPr>
          <p:cNvPr name="TextBox 3" id="3"/>
          <p:cNvSpPr txBox="true"/>
          <p:nvPr/>
        </p:nvSpPr>
        <p:spPr>
          <a:xfrm rot="0">
            <a:off x="12698616" y="8984615"/>
            <a:ext cx="4560684" cy="273685"/>
          </a:xfrm>
          <a:prstGeom prst="rect">
            <a:avLst/>
          </a:prstGeom>
        </p:spPr>
        <p:txBody>
          <a:bodyPr anchor="t" rtlCol="false" tIns="0" lIns="0" bIns="0" rIns="0">
            <a:spAutoFit/>
          </a:bodyPr>
          <a:lstStyle/>
          <a:p>
            <a:pPr algn="r">
              <a:lnSpc>
                <a:spcPts val="2239"/>
              </a:lnSpc>
            </a:pPr>
            <a:r>
              <a:rPr lang="en-US" sz="1599">
                <a:solidFill>
                  <a:srgbClr val="331B0D"/>
                </a:solidFill>
                <a:latin typeface="Open Sauce"/>
                <a:ea typeface="Open Sauce"/>
                <a:cs typeface="Open Sauce"/>
                <a:sym typeface="Open Sauce"/>
              </a:rPr>
              <a:t>19</a:t>
            </a:r>
          </a:p>
        </p:txBody>
      </p:sp>
    </p:spTree>
  </p:cSld>
  <p:clrMapOvr>
    <a:masterClrMapping/>
  </p:clrMapOvr>
</p:sld>
</file>

<file path=ppt/slides/slide20.xml><?xml version="1.0" encoding="utf-8"?>
<p:sld xmlns:p="http://schemas.openxmlformats.org/presentationml/2006/main" xmlns:a="http://schemas.openxmlformats.org/drawingml/2006/main">
  <p:cSld>
    <p:bg>
      <p:bgPr>
        <a:solidFill>
          <a:srgbClr val="EFEEE7"/>
        </a:solidFill>
      </p:bgPr>
    </p:bg>
    <p:spTree>
      <p:nvGrpSpPr>
        <p:cNvPr id="1" name=""/>
        <p:cNvGrpSpPr/>
        <p:nvPr/>
      </p:nvGrpSpPr>
      <p:grpSpPr>
        <a:xfrm>
          <a:off x="0" y="0"/>
          <a:ext cx="0" cy="0"/>
          <a:chOff x="0" y="0"/>
          <a:chExt cx="0" cy="0"/>
        </a:xfrm>
      </p:grpSpPr>
      <p:sp>
        <p:nvSpPr>
          <p:cNvPr name="TextBox 2" id="2"/>
          <p:cNvSpPr txBox="true"/>
          <p:nvPr/>
        </p:nvSpPr>
        <p:spPr>
          <a:xfrm rot="0">
            <a:off x="1006871" y="942975"/>
            <a:ext cx="16230600" cy="651099"/>
          </a:xfrm>
          <a:prstGeom prst="rect">
            <a:avLst/>
          </a:prstGeom>
        </p:spPr>
        <p:txBody>
          <a:bodyPr anchor="t" rtlCol="false" tIns="0" lIns="0" bIns="0" rIns="0">
            <a:spAutoFit/>
          </a:bodyPr>
          <a:lstStyle/>
          <a:p>
            <a:pPr algn="l">
              <a:lnSpc>
                <a:spcPts val="5200"/>
              </a:lnSpc>
              <a:spcBef>
                <a:spcPct val="0"/>
              </a:spcBef>
            </a:pPr>
            <a:r>
              <a:rPr lang="en-US" b="true" sz="3714" spc="843">
                <a:solidFill>
                  <a:srgbClr val="2B2C30"/>
                </a:solidFill>
                <a:latin typeface="Public Sans Bold"/>
                <a:ea typeface="Public Sans Bold"/>
                <a:cs typeface="Public Sans Bold"/>
                <a:sym typeface="Public Sans Bold"/>
              </a:rPr>
              <a:t>ETHICS</a:t>
            </a:r>
          </a:p>
        </p:txBody>
      </p:sp>
      <p:sp>
        <p:nvSpPr>
          <p:cNvPr name="AutoShape 3" id="3"/>
          <p:cNvSpPr/>
          <p:nvPr/>
        </p:nvSpPr>
        <p:spPr>
          <a:xfrm flipV="true">
            <a:off x="1028695" y="1760761"/>
            <a:ext cx="16230594" cy="38509"/>
          </a:xfrm>
          <a:prstGeom prst="line">
            <a:avLst/>
          </a:prstGeom>
          <a:ln cap="flat" w="9525">
            <a:solidFill>
              <a:srgbClr val="2B2C30"/>
            </a:solidFill>
            <a:prstDash val="solid"/>
            <a:headEnd type="none" len="sm" w="sm"/>
            <a:tailEnd type="none" len="sm" w="sm"/>
          </a:ln>
        </p:spPr>
      </p:sp>
      <p:sp>
        <p:nvSpPr>
          <p:cNvPr name="TextBox 4" id="4"/>
          <p:cNvSpPr txBox="true"/>
          <p:nvPr/>
        </p:nvSpPr>
        <p:spPr>
          <a:xfrm rot="0">
            <a:off x="1028689" y="2122290"/>
            <a:ext cx="14134059" cy="1266698"/>
          </a:xfrm>
          <a:prstGeom prst="rect">
            <a:avLst/>
          </a:prstGeom>
        </p:spPr>
        <p:txBody>
          <a:bodyPr anchor="t" rtlCol="false" tIns="0" lIns="0" bIns="0" rIns="0">
            <a:spAutoFit/>
          </a:bodyPr>
          <a:lstStyle/>
          <a:p>
            <a:pPr algn="l" marL="604519" indent="-302260" lvl="1">
              <a:lnSpc>
                <a:spcPts val="5235"/>
              </a:lnSpc>
              <a:buFont typeface="Arial"/>
              <a:buChar char="•"/>
            </a:pPr>
            <a:r>
              <a:rPr lang="en-US" sz="2799">
                <a:solidFill>
                  <a:srgbClr val="2B2C30"/>
                </a:solidFill>
                <a:latin typeface="Public Sans"/>
                <a:ea typeface="Public Sans"/>
                <a:cs typeface="Public Sans"/>
                <a:sym typeface="Public Sans"/>
              </a:rPr>
              <a:t>The main consideration was to make sure that the project, no matter what it was, was supplemental, and didn’t replace a job that could be done by a human.</a:t>
            </a:r>
          </a:p>
        </p:txBody>
      </p:sp>
      <p:sp>
        <p:nvSpPr>
          <p:cNvPr name="TextBox 5" id="5"/>
          <p:cNvSpPr txBox="true"/>
          <p:nvPr/>
        </p:nvSpPr>
        <p:spPr>
          <a:xfrm rot="0">
            <a:off x="1028700" y="3360413"/>
            <a:ext cx="14134059" cy="1266698"/>
          </a:xfrm>
          <a:prstGeom prst="rect">
            <a:avLst/>
          </a:prstGeom>
        </p:spPr>
        <p:txBody>
          <a:bodyPr anchor="t" rtlCol="false" tIns="0" lIns="0" bIns="0" rIns="0">
            <a:spAutoFit/>
          </a:bodyPr>
          <a:lstStyle/>
          <a:p>
            <a:pPr algn="l" marL="604519" indent="-302260" lvl="1">
              <a:lnSpc>
                <a:spcPts val="5235"/>
              </a:lnSpc>
              <a:buFont typeface="Arial"/>
              <a:buChar char="•"/>
            </a:pPr>
            <a:r>
              <a:rPr lang="en-US" sz="2799">
                <a:solidFill>
                  <a:srgbClr val="2B2C30"/>
                </a:solidFill>
                <a:latin typeface="Public Sans"/>
                <a:ea typeface="Public Sans"/>
                <a:cs typeface="Public Sans"/>
                <a:sym typeface="Public Sans"/>
              </a:rPr>
              <a:t>The original goal of this profiler, was to assess any possible accessibility issues, and try and amend that in dialogue.</a:t>
            </a:r>
          </a:p>
        </p:txBody>
      </p:sp>
      <p:sp>
        <p:nvSpPr>
          <p:cNvPr name="TextBox 6" id="6"/>
          <p:cNvSpPr txBox="true"/>
          <p:nvPr/>
        </p:nvSpPr>
        <p:spPr>
          <a:xfrm rot="0">
            <a:off x="1181100" y="7344253"/>
            <a:ext cx="14134059" cy="1266698"/>
          </a:xfrm>
          <a:prstGeom prst="rect">
            <a:avLst/>
          </a:prstGeom>
        </p:spPr>
        <p:txBody>
          <a:bodyPr anchor="t" rtlCol="false" tIns="0" lIns="0" bIns="0" rIns="0">
            <a:spAutoFit/>
          </a:bodyPr>
          <a:lstStyle/>
          <a:p>
            <a:pPr algn="l">
              <a:lnSpc>
                <a:spcPts val="5235"/>
              </a:lnSpc>
            </a:pPr>
            <a:r>
              <a:rPr lang="en-US" sz="2799">
                <a:solidFill>
                  <a:srgbClr val="2B2C30"/>
                </a:solidFill>
                <a:latin typeface="Public Sans"/>
                <a:ea typeface="Public Sans"/>
                <a:cs typeface="Public Sans"/>
                <a:sym typeface="Public Sans"/>
              </a:rPr>
              <a:t>I wanted my project to be able to dynamically help people, without replacing developers in the end.</a:t>
            </a:r>
          </a:p>
        </p:txBody>
      </p:sp>
      <p:sp>
        <p:nvSpPr>
          <p:cNvPr name="TextBox 7" id="7"/>
          <p:cNvSpPr txBox="true"/>
          <p:nvPr/>
        </p:nvSpPr>
        <p:spPr>
          <a:xfrm rot="0">
            <a:off x="12698616" y="8984615"/>
            <a:ext cx="4560684" cy="273685"/>
          </a:xfrm>
          <a:prstGeom prst="rect">
            <a:avLst/>
          </a:prstGeom>
        </p:spPr>
        <p:txBody>
          <a:bodyPr anchor="t" rtlCol="false" tIns="0" lIns="0" bIns="0" rIns="0">
            <a:spAutoFit/>
          </a:bodyPr>
          <a:lstStyle/>
          <a:p>
            <a:pPr algn="r">
              <a:lnSpc>
                <a:spcPts val="2239"/>
              </a:lnSpc>
            </a:pPr>
            <a:r>
              <a:rPr lang="en-US" sz="1599">
                <a:solidFill>
                  <a:srgbClr val="331B0D"/>
                </a:solidFill>
                <a:latin typeface="Open Sauce"/>
                <a:ea typeface="Open Sauce"/>
                <a:cs typeface="Open Sauce"/>
                <a:sym typeface="Open Sauce"/>
              </a:rPr>
              <a:t>20</a:t>
            </a:r>
          </a:p>
        </p:txBody>
      </p:sp>
      <p:sp>
        <p:nvSpPr>
          <p:cNvPr name="TextBox 8" id="8"/>
          <p:cNvSpPr txBox="true"/>
          <p:nvPr/>
        </p:nvSpPr>
        <p:spPr>
          <a:xfrm rot="0">
            <a:off x="1006871" y="4598537"/>
            <a:ext cx="14134059" cy="1266698"/>
          </a:xfrm>
          <a:prstGeom prst="rect">
            <a:avLst/>
          </a:prstGeom>
        </p:spPr>
        <p:txBody>
          <a:bodyPr anchor="t" rtlCol="false" tIns="0" lIns="0" bIns="0" rIns="0">
            <a:spAutoFit/>
          </a:bodyPr>
          <a:lstStyle/>
          <a:p>
            <a:pPr algn="l" marL="604519" indent="-302260" lvl="1">
              <a:lnSpc>
                <a:spcPts val="5235"/>
              </a:lnSpc>
              <a:buFont typeface="Arial"/>
              <a:buChar char="•"/>
            </a:pPr>
            <a:r>
              <a:rPr lang="en-US" sz="2799">
                <a:solidFill>
                  <a:srgbClr val="2B2C30"/>
                </a:solidFill>
                <a:latin typeface="Public Sans"/>
                <a:ea typeface="Public Sans"/>
                <a:cs typeface="Public Sans"/>
                <a:sym typeface="Public Sans"/>
              </a:rPr>
              <a:t>I reached out and spoke to a lot of peers with accessibility issues, such as and not limited to: ethnic background, dyslexia, and spelling issues.</a:t>
            </a:r>
          </a:p>
        </p:txBody>
      </p:sp>
    </p:spTree>
  </p:cSld>
  <p:clrMapOvr>
    <a:masterClrMapping/>
  </p:clrMapOvr>
</p:sld>
</file>

<file path=ppt/slides/slide21.xml><?xml version="1.0" encoding="utf-8"?>
<p:sld xmlns:p="http://schemas.openxmlformats.org/presentationml/2006/main" xmlns:a="http://schemas.openxmlformats.org/drawingml/2006/main">
  <p:cSld>
    <p:bg>
      <p:bgPr>
        <a:solidFill>
          <a:srgbClr val="EFEEE7"/>
        </a:solidFill>
      </p:bgPr>
    </p:bg>
    <p:spTree>
      <p:nvGrpSpPr>
        <p:cNvPr id="1" name=""/>
        <p:cNvGrpSpPr/>
        <p:nvPr/>
      </p:nvGrpSpPr>
      <p:grpSpPr>
        <a:xfrm>
          <a:off x="0" y="0"/>
          <a:ext cx="0" cy="0"/>
          <a:chOff x="0" y="0"/>
          <a:chExt cx="0" cy="0"/>
        </a:xfrm>
      </p:grpSpPr>
      <p:sp>
        <p:nvSpPr>
          <p:cNvPr name="TextBox 2" id="2"/>
          <p:cNvSpPr txBox="true"/>
          <p:nvPr/>
        </p:nvSpPr>
        <p:spPr>
          <a:xfrm rot="0">
            <a:off x="1006871" y="942975"/>
            <a:ext cx="16230600" cy="651099"/>
          </a:xfrm>
          <a:prstGeom prst="rect">
            <a:avLst/>
          </a:prstGeom>
        </p:spPr>
        <p:txBody>
          <a:bodyPr anchor="t" rtlCol="false" tIns="0" lIns="0" bIns="0" rIns="0">
            <a:spAutoFit/>
          </a:bodyPr>
          <a:lstStyle/>
          <a:p>
            <a:pPr algn="l">
              <a:lnSpc>
                <a:spcPts val="5200"/>
              </a:lnSpc>
              <a:spcBef>
                <a:spcPct val="0"/>
              </a:spcBef>
            </a:pPr>
            <a:r>
              <a:rPr lang="en-US" b="true" sz="3714" spc="843">
                <a:solidFill>
                  <a:srgbClr val="2B2C30"/>
                </a:solidFill>
                <a:latin typeface="Public Sans Bold"/>
                <a:ea typeface="Public Sans Bold"/>
                <a:cs typeface="Public Sans Bold"/>
                <a:sym typeface="Public Sans Bold"/>
              </a:rPr>
              <a:t>STORY OF THE PROJECT</a:t>
            </a:r>
          </a:p>
        </p:txBody>
      </p:sp>
      <p:sp>
        <p:nvSpPr>
          <p:cNvPr name="AutoShape 3" id="3"/>
          <p:cNvSpPr/>
          <p:nvPr/>
        </p:nvSpPr>
        <p:spPr>
          <a:xfrm flipV="true">
            <a:off x="-7086597" y="1760761"/>
            <a:ext cx="16230594" cy="38509"/>
          </a:xfrm>
          <a:prstGeom prst="line">
            <a:avLst/>
          </a:prstGeom>
          <a:ln cap="flat" w="9525">
            <a:solidFill>
              <a:srgbClr val="2B2C30"/>
            </a:solidFill>
            <a:prstDash val="solid"/>
            <a:headEnd type="none" len="sm" w="sm"/>
            <a:tailEnd type="none" len="sm" w="sm"/>
          </a:ln>
        </p:spPr>
      </p:sp>
      <p:sp>
        <p:nvSpPr>
          <p:cNvPr name="TextBox 4" id="4"/>
          <p:cNvSpPr txBox="true"/>
          <p:nvPr/>
        </p:nvSpPr>
        <p:spPr>
          <a:xfrm rot="0">
            <a:off x="7620000" y="4149648"/>
            <a:ext cx="3086100" cy="4680583"/>
          </a:xfrm>
          <a:prstGeom prst="rect">
            <a:avLst/>
          </a:prstGeom>
        </p:spPr>
        <p:txBody>
          <a:bodyPr anchor="t" rtlCol="false" tIns="0" lIns="0" bIns="0" rIns="0">
            <a:spAutoFit/>
          </a:bodyPr>
          <a:lstStyle/>
          <a:p>
            <a:pPr algn="l">
              <a:lnSpc>
                <a:spcPts val="2880"/>
              </a:lnSpc>
            </a:pPr>
            <a:r>
              <a:rPr lang="en-US" sz="1800">
                <a:solidFill>
                  <a:srgbClr val="2B2C30"/>
                </a:solidFill>
                <a:latin typeface="Public Sans"/>
                <a:ea typeface="Public Sans"/>
                <a:cs typeface="Public Sans"/>
                <a:sym typeface="Public Sans"/>
              </a:rPr>
              <a:t>Integrated it into Unity using Llamasharp, using Unity Text Input fields to assimilate a chat room.</a:t>
            </a:r>
          </a:p>
          <a:p>
            <a:pPr algn="l">
              <a:lnSpc>
                <a:spcPts val="2880"/>
              </a:lnSpc>
            </a:pPr>
          </a:p>
          <a:p>
            <a:pPr algn="l">
              <a:lnSpc>
                <a:spcPts val="2880"/>
              </a:lnSpc>
            </a:pPr>
            <a:r>
              <a:rPr lang="en-US" sz="1800">
                <a:solidFill>
                  <a:srgbClr val="2B2C30"/>
                </a:solidFill>
                <a:latin typeface="Public Sans"/>
                <a:ea typeface="Public Sans"/>
                <a:cs typeface="Public Sans"/>
                <a:sym typeface="Public Sans"/>
              </a:rPr>
              <a:t>Immediately realizing the model only generates parameter evaluations in Json. After consideration and time deadlines, coming to the conclusion that OpenAI integration was the easiest.</a:t>
            </a:r>
          </a:p>
        </p:txBody>
      </p:sp>
      <p:sp>
        <p:nvSpPr>
          <p:cNvPr name="TextBox 5" id="5"/>
          <p:cNvSpPr txBox="true"/>
          <p:nvPr/>
        </p:nvSpPr>
        <p:spPr>
          <a:xfrm rot="0">
            <a:off x="7620000" y="3216198"/>
            <a:ext cx="2785647" cy="428625"/>
          </a:xfrm>
          <a:prstGeom prst="rect">
            <a:avLst/>
          </a:prstGeom>
        </p:spPr>
        <p:txBody>
          <a:bodyPr anchor="t" rtlCol="false" tIns="0" lIns="0" bIns="0" rIns="0">
            <a:spAutoFit/>
          </a:bodyPr>
          <a:lstStyle/>
          <a:p>
            <a:pPr algn="l">
              <a:lnSpc>
                <a:spcPts val="3480"/>
              </a:lnSpc>
            </a:pPr>
            <a:r>
              <a:rPr lang="en-US" sz="2900" i="true">
                <a:solidFill>
                  <a:srgbClr val="2B2C30"/>
                </a:solidFill>
                <a:latin typeface="Playfair Display Italics"/>
                <a:ea typeface="Playfair Display Italics"/>
                <a:cs typeface="Playfair Display Italics"/>
                <a:sym typeface="Playfair Display Italics"/>
              </a:rPr>
              <a:t>Integration</a:t>
            </a:r>
          </a:p>
        </p:txBody>
      </p:sp>
      <p:sp>
        <p:nvSpPr>
          <p:cNvPr name="TextBox 6" id="6"/>
          <p:cNvSpPr txBox="true"/>
          <p:nvPr/>
        </p:nvSpPr>
        <p:spPr>
          <a:xfrm rot="0">
            <a:off x="7620000" y="3635298"/>
            <a:ext cx="2785647" cy="428625"/>
          </a:xfrm>
          <a:prstGeom prst="rect">
            <a:avLst/>
          </a:prstGeom>
        </p:spPr>
        <p:txBody>
          <a:bodyPr anchor="t" rtlCol="false" tIns="0" lIns="0" bIns="0" rIns="0">
            <a:spAutoFit/>
          </a:bodyPr>
          <a:lstStyle/>
          <a:p>
            <a:pPr algn="l">
              <a:lnSpc>
                <a:spcPts val="3359"/>
              </a:lnSpc>
            </a:pPr>
            <a:r>
              <a:rPr lang="en-US" sz="2799" b="true">
                <a:solidFill>
                  <a:srgbClr val="2B2C30"/>
                </a:solidFill>
                <a:latin typeface="Public Sans Bold"/>
                <a:ea typeface="Public Sans Bold"/>
                <a:cs typeface="Public Sans Bold"/>
                <a:sym typeface="Public Sans Bold"/>
              </a:rPr>
              <a:t>Q3</a:t>
            </a:r>
          </a:p>
        </p:txBody>
      </p:sp>
      <p:sp>
        <p:nvSpPr>
          <p:cNvPr name="TextBox 7" id="7"/>
          <p:cNvSpPr txBox="true"/>
          <p:nvPr/>
        </p:nvSpPr>
        <p:spPr>
          <a:xfrm rot="0">
            <a:off x="1006871" y="4149648"/>
            <a:ext cx="3086100" cy="2508883"/>
          </a:xfrm>
          <a:prstGeom prst="rect">
            <a:avLst/>
          </a:prstGeom>
        </p:spPr>
        <p:txBody>
          <a:bodyPr anchor="t" rtlCol="false" tIns="0" lIns="0" bIns="0" rIns="0">
            <a:spAutoFit/>
          </a:bodyPr>
          <a:lstStyle/>
          <a:p>
            <a:pPr algn="l">
              <a:lnSpc>
                <a:spcPts val="2880"/>
              </a:lnSpc>
            </a:pPr>
            <a:r>
              <a:rPr lang="en-US" sz="1800">
                <a:solidFill>
                  <a:srgbClr val="2B2C30"/>
                </a:solidFill>
                <a:latin typeface="Public Sans"/>
                <a:ea typeface="Public Sans"/>
                <a:cs typeface="Public Sans"/>
                <a:sym typeface="Public Sans"/>
              </a:rPr>
              <a:t>After brainstorming multiple project ideas, realized this profiler was the most achievable within 5 weeks.</a:t>
            </a:r>
          </a:p>
          <a:p>
            <a:pPr algn="l">
              <a:lnSpc>
                <a:spcPts val="2880"/>
              </a:lnSpc>
            </a:pPr>
          </a:p>
          <a:p>
            <a:pPr algn="l">
              <a:lnSpc>
                <a:spcPts val="2880"/>
              </a:lnSpc>
            </a:pPr>
            <a:r>
              <a:rPr lang="en-US" sz="1800">
                <a:solidFill>
                  <a:srgbClr val="2B2C30"/>
                </a:solidFill>
                <a:latin typeface="Public Sans"/>
                <a:ea typeface="Public Sans"/>
                <a:cs typeface="Public Sans"/>
                <a:sym typeface="Public Sans"/>
              </a:rPr>
              <a:t>Originally started with only using one model. </a:t>
            </a:r>
          </a:p>
        </p:txBody>
      </p:sp>
      <p:sp>
        <p:nvSpPr>
          <p:cNvPr name="TextBox 8" id="8"/>
          <p:cNvSpPr txBox="true"/>
          <p:nvPr/>
        </p:nvSpPr>
        <p:spPr>
          <a:xfrm rot="0">
            <a:off x="1066800" y="3216198"/>
            <a:ext cx="2785647" cy="428625"/>
          </a:xfrm>
          <a:prstGeom prst="rect">
            <a:avLst/>
          </a:prstGeom>
        </p:spPr>
        <p:txBody>
          <a:bodyPr anchor="t" rtlCol="false" tIns="0" lIns="0" bIns="0" rIns="0">
            <a:spAutoFit/>
          </a:bodyPr>
          <a:lstStyle/>
          <a:p>
            <a:pPr algn="l">
              <a:lnSpc>
                <a:spcPts val="3480"/>
              </a:lnSpc>
            </a:pPr>
            <a:r>
              <a:rPr lang="en-US" sz="2900" i="true">
                <a:solidFill>
                  <a:srgbClr val="2B2C30"/>
                </a:solidFill>
                <a:latin typeface="Playfair Display Italics"/>
                <a:ea typeface="Playfair Display Italics"/>
                <a:cs typeface="Playfair Display Italics"/>
                <a:sym typeface="Playfair Display Italics"/>
              </a:rPr>
              <a:t>Planning</a:t>
            </a:r>
          </a:p>
        </p:txBody>
      </p:sp>
      <p:sp>
        <p:nvSpPr>
          <p:cNvPr name="TextBox 9" id="9"/>
          <p:cNvSpPr txBox="true"/>
          <p:nvPr/>
        </p:nvSpPr>
        <p:spPr>
          <a:xfrm rot="0">
            <a:off x="1066800" y="3635298"/>
            <a:ext cx="2785647" cy="428625"/>
          </a:xfrm>
          <a:prstGeom prst="rect">
            <a:avLst/>
          </a:prstGeom>
        </p:spPr>
        <p:txBody>
          <a:bodyPr anchor="t" rtlCol="false" tIns="0" lIns="0" bIns="0" rIns="0">
            <a:spAutoFit/>
          </a:bodyPr>
          <a:lstStyle/>
          <a:p>
            <a:pPr algn="l">
              <a:lnSpc>
                <a:spcPts val="3359"/>
              </a:lnSpc>
            </a:pPr>
            <a:r>
              <a:rPr lang="en-US" sz="2799" b="true">
                <a:solidFill>
                  <a:srgbClr val="2B2C30"/>
                </a:solidFill>
                <a:latin typeface="Public Sans Bold"/>
                <a:ea typeface="Public Sans Bold"/>
                <a:cs typeface="Public Sans Bold"/>
                <a:sym typeface="Public Sans Bold"/>
              </a:rPr>
              <a:t>Q1</a:t>
            </a:r>
          </a:p>
        </p:txBody>
      </p:sp>
      <p:sp>
        <p:nvSpPr>
          <p:cNvPr name="TextBox 10" id="10"/>
          <p:cNvSpPr txBox="true"/>
          <p:nvPr/>
        </p:nvSpPr>
        <p:spPr>
          <a:xfrm rot="0">
            <a:off x="4343400" y="4149648"/>
            <a:ext cx="3086100" cy="5766433"/>
          </a:xfrm>
          <a:prstGeom prst="rect">
            <a:avLst/>
          </a:prstGeom>
        </p:spPr>
        <p:txBody>
          <a:bodyPr anchor="t" rtlCol="false" tIns="0" lIns="0" bIns="0" rIns="0">
            <a:spAutoFit/>
          </a:bodyPr>
          <a:lstStyle/>
          <a:p>
            <a:pPr algn="l">
              <a:lnSpc>
                <a:spcPts val="2880"/>
              </a:lnSpc>
            </a:pPr>
            <a:r>
              <a:rPr lang="en-US" sz="1800">
                <a:solidFill>
                  <a:srgbClr val="2B2C30"/>
                </a:solidFill>
                <a:latin typeface="Public Sans"/>
                <a:ea typeface="Public Sans"/>
                <a:cs typeface="Public Sans"/>
                <a:sym typeface="Public Sans"/>
              </a:rPr>
              <a:t>The original training took over 10+ hours, which involved quantizing the model.</a:t>
            </a:r>
          </a:p>
          <a:p>
            <a:pPr algn="l">
              <a:lnSpc>
                <a:spcPts val="2880"/>
              </a:lnSpc>
            </a:pPr>
          </a:p>
          <a:p>
            <a:pPr algn="l">
              <a:lnSpc>
                <a:spcPts val="2880"/>
              </a:lnSpc>
            </a:pPr>
            <a:r>
              <a:rPr lang="en-US" sz="1800">
                <a:solidFill>
                  <a:srgbClr val="2B2C30"/>
                </a:solidFill>
                <a:latin typeface="Public Sans"/>
                <a:ea typeface="Public Sans"/>
                <a:cs typeface="Public Sans"/>
                <a:sym typeface="Public Sans"/>
              </a:rPr>
              <a:t>However, after testing the original model on LM studio, it was immediately clear that the system prompt and diversity topics could have been refined.</a:t>
            </a:r>
          </a:p>
          <a:p>
            <a:pPr algn="l">
              <a:lnSpc>
                <a:spcPts val="2880"/>
              </a:lnSpc>
            </a:pPr>
          </a:p>
          <a:p>
            <a:pPr algn="l">
              <a:lnSpc>
                <a:spcPts val="2880"/>
              </a:lnSpc>
            </a:pPr>
            <a:r>
              <a:rPr lang="en-US" sz="1800">
                <a:solidFill>
                  <a:srgbClr val="2B2C30"/>
                </a:solidFill>
                <a:latin typeface="Public Sans"/>
                <a:ea typeface="Public Sans"/>
                <a:cs typeface="Public Sans"/>
                <a:sym typeface="Public Sans"/>
              </a:rPr>
              <a:t>Focused more on Json generation in the second iteration. Then after testing, it was good to go.</a:t>
            </a:r>
          </a:p>
        </p:txBody>
      </p:sp>
      <p:sp>
        <p:nvSpPr>
          <p:cNvPr name="TextBox 11" id="11"/>
          <p:cNvSpPr txBox="true"/>
          <p:nvPr/>
        </p:nvSpPr>
        <p:spPr>
          <a:xfrm rot="0">
            <a:off x="4343400" y="3216198"/>
            <a:ext cx="2785647" cy="428625"/>
          </a:xfrm>
          <a:prstGeom prst="rect">
            <a:avLst/>
          </a:prstGeom>
        </p:spPr>
        <p:txBody>
          <a:bodyPr anchor="t" rtlCol="false" tIns="0" lIns="0" bIns="0" rIns="0">
            <a:spAutoFit/>
          </a:bodyPr>
          <a:lstStyle/>
          <a:p>
            <a:pPr algn="l">
              <a:lnSpc>
                <a:spcPts val="3480"/>
              </a:lnSpc>
            </a:pPr>
            <a:r>
              <a:rPr lang="en-US" sz="2900" i="true">
                <a:solidFill>
                  <a:srgbClr val="2B2C30"/>
                </a:solidFill>
                <a:latin typeface="Playfair Display Italics"/>
                <a:ea typeface="Playfair Display Italics"/>
                <a:cs typeface="Playfair Display Italics"/>
                <a:sym typeface="Playfair Display Italics"/>
              </a:rPr>
              <a:t>Training</a:t>
            </a:r>
          </a:p>
        </p:txBody>
      </p:sp>
      <p:sp>
        <p:nvSpPr>
          <p:cNvPr name="TextBox 12" id="12"/>
          <p:cNvSpPr txBox="true"/>
          <p:nvPr/>
        </p:nvSpPr>
        <p:spPr>
          <a:xfrm rot="0">
            <a:off x="4343400" y="3635298"/>
            <a:ext cx="2785647" cy="428625"/>
          </a:xfrm>
          <a:prstGeom prst="rect">
            <a:avLst/>
          </a:prstGeom>
        </p:spPr>
        <p:txBody>
          <a:bodyPr anchor="t" rtlCol="false" tIns="0" lIns="0" bIns="0" rIns="0">
            <a:spAutoFit/>
          </a:bodyPr>
          <a:lstStyle/>
          <a:p>
            <a:pPr algn="l">
              <a:lnSpc>
                <a:spcPts val="3359"/>
              </a:lnSpc>
            </a:pPr>
            <a:r>
              <a:rPr lang="en-US" sz="2799" b="true">
                <a:solidFill>
                  <a:srgbClr val="2B2C30"/>
                </a:solidFill>
                <a:latin typeface="Public Sans Bold"/>
                <a:ea typeface="Public Sans Bold"/>
                <a:cs typeface="Public Sans Bold"/>
                <a:sym typeface="Public Sans Bold"/>
              </a:rPr>
              <a:t>Q2</a:t>
            </a:r>
          </a:p>
        </p:txBody>
      </p:sp>
      <p:sp>
        <p:nvSpPr>
          <p:cNvPr name="TextBox 13" id="13"/>
          <p:cNvSpPr txBox="true"/>
          <p:nvPr/>
        </p:nvSpPr>
        <p:spPr>
          <a:xfrm rot="0">
            <a:off x="10896600" y="4149648"/>
            <a:ext cx="3086100" cy="4318633"/>
          </a:xfrm>
          <a:prstGeom prst="rect">
            <a:avLst/>
          </a:prstGeom>
        </p:spPr>
        <p:txBody>
          <a:bodyPr anchor="t" rtlCol="false" tIns="0" lIns="0" bIns="0" rIns="0">
            <a:spAutoFit/>
          </a:bodyPr>
          <a:lstStyle/>
          <a:p>
            <a:pPr algn="l">
              <a:lnSpc>
                <a:spcPts val="2880"/>
              </a:lnSpc>
            </a:pPr>
            <a:r>
              <a:rPr lang="en-US" sz="1800">
                <a:solidFill>
                  <a:srgbClr val="2B2C30"/>
                </a:solidFill>
                <a:latin typeface="Public Sans"/>
                <a:ea typeface="Public Sans"/>
                <a:cs typeface="Public Sans"/>
                <a:sym typeface="Public Sans"/>
              </a:rPr>
              <a:t>After getting the models to talk to one another and  send messages. I had no way to debug anything. The messages were odd, the responses were not on track.</a:t>
            </a:r>
          </a:p>
          <a:p>
            <a:pPr algn="l">
              <a:lnSpc>
                <a:spcPts val="2880"/>
              </a:lnSpc>
            </a:pPr>
          </a:p>
          <a:p>
            <a:pPr algn="l">
              <a:lnSpc>
                <a:spcPts val="2880"/>
              </a:lnSpc>
            </a:pPr>
            <a:r>
              <a:rPr lang="en-US" sz="1800">
                <a:solidFill>
                  <a:srgbClr val="2B2C30"/>
                </a:solidFill>
                <a:latin typeface="Public Sans"/>
                <a:ea typeface="Public Sans"/>
                <a:cs typeface="Public Sans"/>
                <a:sym typeface="Public Sans"/>
              </a:rPr>
              <a:t>Leading to me making the Visual Debugger. Which helped tweak with system prompts and fix any human errors in the code.</a:t>
            </a:r>
          </a:p>
        </p:txBody>
      </p:sp>
      <p:sp>
        <p:nvSpPr>
          <p:cNvPr name="TextBox 14" id="14"/>
          <p:cNvSpPr txBox="true"/>
          <p:nvPr/>
        </p:nvSpPr>
        <p:spPr>
          <a:xfrm rot="0">
            <a:off x="10896600" y="3216198"/>
            <a:ext cx="2785647" cy="428625"/>
          </a:xfrm>
          <a:prstGeom prst="rect">
            <a:avLst/>
          </a:prstGeom>
        </p:spPr>
        <p:txBody>
          <a:bodyPr anchor="t" rtlCol="false" tIns="0" lIns="0" bIns="0" rIns="0">
            <a:spAutoFit/>
          </a:bodyPr>
          <a:lstStyle/>
          <a:p>
            <a:pPr algn="l">
              <a:lnSpc>
                <a:spcPts val="3480"/>
              </a:lnSpc>
            </a:pPr>
            <a:r>
              <a:rPr lang="en-US" sz="2900" i="true">
                <a:solidFill>
                  <a:srgbClr val="2B2C30"/>
                </a:solidFill>
                <a:latin typeface="Playfair Display Italics"/>
                <a:ea typeface="Playfair Display Italics"/>
                <a:cs typeface="Playfair Display Italics"/>
                <a:sym typeface="Playfair Display Italics"/>
              </a:rPr>
              <a:t>Testing</a:t>
            </a:r>
          </a:p>
        </p:txBody>
      </p:sp>
      <p:sp>
        <p:nvSpPr>
          <p:cNvPr name="TextBox 15" id="15"/>
          <p:cNvSpPr txBox="true"/>
          <p:nvPr/>
        </p:nvSpPr>
        <p:spPr>
          <a:xfrm rot="0">
            <a:off x="10896600" y="3635298"/>
            <a:ext cx="2785647" cy="428625"/>
          </a:xfrm>
          <a:prstGeom prst="rect">
            <a:avLst/>
          </a:prstGeom>
        </p:spPr>
        <p:txBody>
          <a:bodyPr anchor="t" rtlCol="false" tIns="0" lIns="0" bIns="0" rIns="0">
            <a:spAutoFit/>
          </a:bodyPr>
          <a:lstStyle/>
          <a:p>
            <a:pPr algn="l">
              <a:lnSpc>
                <a:spcPts val="3359"/>
              </a:lnSpc>
            </a:pPr>
            <a:r>
              <a:rPr lang="en-US" sz="2799" b="true">
                <a:solidFill>
                  <a:srgbClr val="2B2C30"/>
                </a:solidFill>
                <a:latin typeface="Public Sans Bold"/>
                <a:ea typeface="Public Sans Bold"/>
                <a:cs typeface="Public Sans Bold"/>
                <a:sym typeface="Public Sans Bold"/>
              </a:rPr>
              <a:t>Q4</a:t>
            </a:r>
          </a:p>
        </p:txBody>
      </p:sp>
      <p:sp>
        <p:nvSpPr>
          <p:cNvPr name="TextBox 16" id="16"/>
          <p:cNvSpPr txBox="true"/>
          <p:nvPr/>
        </p:nvSpPr>
        <p:spPr>
          <a:xfrm rot="0">
            <a:off x="14173200" y="4149648"/>
            <a:ext cx="3086100" cy="5404483"/>
          </a:xfrm>
          <a:prstGeom prst="rect">
            <a:avLst/>
          </a:prstGeom>
        </p:spPr>
        <p:txBody>
          <a:bodyPr anchor="t" rtlCol="false" tIns="0" lIns="0" bIns="0" rIns="0">
            <a:spAutoFit/>
          </a:bodyPr>
          <a:lstStyle/>
          <a:p>
            <a:pPr algn="l">
              <a:lnSpc>
                <a:spcPts val="2880"/>
              </a:lnSpc>
            </a:pPr>
            <a:r>
              <a:rPr lang="en-US" sz="1800">
                <a:solidFill>
                  <a:srgbClr val="2B2C30"/>
                </a:solidFill>
                <a:latin typeface="Public Sans"/>
                <a:ea typeface="Public Sans"/>
                <a:cs typeface="Public Sans"/>
                <a:sym typeface="Public Sans"/>
              </a:rPr>
              <a:t>The point of this project was to see if making a profile on a user was possible. Utilizing that profile to adjust something dynamically, as simple as dialogue. If given more time, I would love to finetune the model yet again with more strict diversity topics.</a:t>
            </a:r>
          </a:p>
          <a:p>
            <a:pPr algn="l">
              <a:lnSpc>
                <a:spcPts val="2880"/>
              </a:lnSpc>
            </a:pPr>
          </a:p>
          <a:p>
            <a:pPr algn="l">
              <a:lnSpc>
                <a:spcPts val="2880"/>
              </a:lnSpc>
            </a:pPr>
            <a:r>
              <a:rPr lang="en-US" sz="1800">
                <a:solidFill>
                  <a:srgbClr val="2B2C30"/>
                </a:solidFill>
                <a:latin typeface="Public Sans"/>
                <a:ea typeface="Public Sans"/>
                <a:cs typeface="Public Sans"/>
                <a:sym typeface="Public Sans"/>
              </a:rPr>
              <a:t>Additionally, work on finetuning the OpenAI system prompt to make it adapt more to the user</a:t>
            </a:r>
          </a:p>
        </p:txBody>
      </p:sp>
      <p:sp>
        <p:nvSpPr>
          <p:cNvPr name="TextBox 17" id="17"/>
          <p:cNvSpPr txBox="true"/>
          <p:nvPr/>
        </p:nvSpPr>
        <p:spPr>
          <a:xfrm rot="0">
            <a:off x="14173200" y="3216198"/>
            <a:ext cx="2785647" cy="428625"/>
          </a:xfrm>
          <a:prstGeom prst="rect">
            <a:avLst/>
          </a:prstGeom>
        </p:spPr>
        <p:txBody>
          <a:bodyPr anchor="t" rtlCol="false" tIns="0" lIns="0" bIns="0" rIns="0">
            <a:spAutoFit/>
          </a:bodyPr>
          <a:lstStyle/>
          <a:p>
            <a:pPr algn="l">
              <a:lnSpc>
                <a:spcPts val="3480"/>
              </a:lnSpc>
            </a:pPr>
            <a:r>
              <a:rPr lang="en-US" sz="2900" i="true">
                <a:solidFill>
                  <a:srgbClr val="2B2C30"/>
                </a:solidFill>
                <a:latin typeface="Playfair Display Italics"/>
                <a:ea typeface="Playfair Display Italics"/>
                <a:cs typeface="Playfair Display Italics"/>
                <a:sym typeface="Playfair Display Italics"/>
              </a:rPr>
              <a:t>The Future</a:t>
            </a:r>
          </a:p>
        </p:txBody>
      </p:sp>
      <p:sp>
        <p:nvSpPr>
          <p:cNvPr name="TextBox 18" id="18"/>
          <p:cNvSpPr txBox="true"/>
          <p:nvPr/>
        </p:nvSpPr>
        <p:spPr>
          <a:xfrm rot="0">
            <a:off x="14173200" y="3635298"/>
            <a:ext cx="2785647" cy="428625"/>
          </a:xfrm>
          <a:prstGeom prst="rect">
            <a:avLst/>
          </a:prstGeom>
        </p:spPr>
        <p:txBody>
          <a:bodyPr anchor="t" rtlCol="false" tIns="0" lIns="0" bIns="0" rIns="0">
            <a:spAutoFit/>
          </a:bodyPr>
          <a:lstStyle/>
          <a:p>
            <a:pPr algn="l">
              <a:lnSpc>
                <a:spcPts val="3359"/>
              </a:lnSpc>
            </a:pPr>
            <a:r>
              <a:rPr lang="en-US" sz="2799" b="true">
                <a:solidFill>
                  <a:srgbClr val="2B2C30"/>
                </a:solidFill>
                <a:latin typeface="Public Sans Bold"/>
                <a:ea typeface="Public Sans Bold"/>
                <a:cs typeface="Public Sans Bold"/>
                <a:sym typeface="Public Sans Bold"/>
              </a:rPr>
              <a:t>????</a:t>
            </a:r>
          </a:p>
        </p:txBody>
      </p:sp>
      <p:grpSp>
        <p:nvGrpSpPr>
          <p:cNvPr name="Group 19" id="19"/>
          <p:cNvGrpSpPr/>
          <p:nvPr/>
        </p:nvGrpSpPr>
        <p:grpSpPr>
          <a:xfrm rot="0">
            <a:off x="4343400" y="2756663"/>
            <a:ext cx="138677" cy="138677"/>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B2C30"/>
            </a:solidFill>
          </p:spPr>
        </p:sp>
        <p:sp>
          <p:nvSpPr>
            <p:cNvPr name="TextBox 21" id="21"/>
            <p:cNvSpPr txBox="true"/>
            <p:nvPr/>
          </p:nvSpPr>
          <p:spPr>
            <a:xfrm>
              <a:off x="76200" y="85725"/>
              <a:ext cx="660400" cy="650875"/>
            </a:xfrm>
            <a:prstGeom prst="rect">
              <a:avLst/>
            </a:prstGeom>
          </p:spPr>
          <p:txBody>
            <a:bodyPr anchor="ctr" rtlCol="false" tIns="50800" lIns="50800" bIns="50800" rIns="50800"/>
            <a:lstStyle/>
            <a:p>
              <a:pPr algn="ctr">
                <a:lnSpc>
                  <a:spcPts val="2120"/>
                </a:lnSpc>
              </a:pPr>
            </a:p>
          </p:txBody>
        </p:sp>
      </p:grpSp>
      <p:grpSp>
        <p:nvGrpSpPr>
          <p:cNvPr name="Group 22" id="22"/>
          <p:cNvGrpSpPr/>
          <p:nvPr/>
        </p:nvGrpSpPr>
        <p:grpSpPr>
          <a:xfrm rot="0">
            <a:off x="1028700" y="2756663"/>
            <a:ext cx="138677" cy="138677"/>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B2C30"/>
            </a:solidFill>
          </p:spPr>
        </p:sp>
        <p:sp>
          <p:nvSpPr>
            <p:cNvPr name="TextBox 24" id="24"/>
            <p:cNvSpPr txBox="true"/>
            <p:nvPr/>
          </p:nvSpPr>
          <p:spPr>
            <a:xfrm>
              <a:off x="76200" y="85725"/>
              <a:ext cx="660400" cy="650875"/>
            </a:xfrm>
            <a:prstGeom prst="rect">
              <a:avLst/>
            </a:prstGeom>
          </p:spPr>
          <p:txBody>
            <a:bodyPr anchor="ctr" rtlCol="false" tIns="50800" lIns="50800" bIns="50800" rIns="50800"/>
            <a:lstStyle/>
            <a:p>
              <a:pPr algn="ctr">
                <a:lnSpc>
                  <a:spcPts val="2120"/>
                </a:lnSpc>
              </a:pPr>
            </a:p>
          </p:txBody>
        </p:sp>
      </p:grpSp>
      <p:grpSp>
        <p:nvGrpSpPr>
          <p:cNvPr name="Group 25" id="25"/>
          <p:cNvGrpSpPr/>
          <p:nvPr/>
        </p:nvGrpSpPr>
        <p:grpSpPr>
          <a:xfrm rot="0">
            <a:off x="7620000" y="2756663"/>
            <a:ext cx="138677" cy="138677"/>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B2C30"/>
            </a:solidFill>
          </p:spPr>
        </p:sp>
        <p:sp>
          <p:nvSpPr>
            <p:cNvPr name="TextBox 27" id="27"/>
            <p:cNvSpPr txBox="true"/>
            <p:nvPr/>
          </p:nvSpPr>
          <p:spPr>
            <a:xfrm>
              <a:off x="76200" y="85725"/>
              <a:ext cx="660400" cy="650875"/>
            </a:xfrm>
            <a:prstGeom prst="rect">
              <a:avLst/>
            </a:prstGeom>
          </p:spPr>
          <p:txBody>
            <a:bodyPr anchor="ctr" rtlCol="false" tIns="50800" lIns="50800" bIns="50800" rIns="50800"/>
            <a:lstStyle/>
            <a:p>
              <a:pPr algn="ctr">
                <a:lnSpc>
                  <a:spcPts val="2120"/>
                </a:lnSpc>
              </a:pPr>
            </a:p>
          </p:txBody>
        </p:sp>
      </p:grpSp>
      <p:grpSp>
        <p:nvGrpSpPr>
          <p:cNvPr name="Group 28" id="28"/>
          <p:cNvGrpSpPr/>
          <p:nvPr/>
        </p:nvGrpSpPr>
        <p:grpSpPr>
          <a:xfrm rot="0">
            <a:off x="10896600" y="2756663"/>
            <a:ext cx="138677" cy="138677"/>
            <a:chOff x="0" y="0"/>
            <a:chExt cx="812800" cy="812800"/>
          </a:xfrm>
        </p:grpSpPr>
        <p:sp>
          <p:nvSpPr>
            <p:cNvPr name="Freeform 29" id="2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B2C30"/>
            </a:solidFill>
          </p:spPr>
        </p:sp>
        <p:sp>
          <p:nvSpPr>
            <p:cNvPr name="TextBox 30" id="30"/>
            <p:cNvSpPr txBox="true"/>
            <p:nvPr/>
          </p:nvSpPr>
          <p:spPr>
            <a:xfrm>
              <a:off x="76200" y="85725"/>
              <a:ext cx="660400" cy="650875"/>
            </a:xfrm>
            <a:prstGeom prst="rect">
              <a:avLst/>
            </a:prstGeom>
          </p:spPr>
          <p:txBody>
            <a:bodyPr anchor="ctr" rtlCol="false" tIns="50800" lIns="50800" bIns="50800" rIns="50800"/>
            <a:lstStyle/>
            <a:p>
              <a:pPr algn="ctr">
                <a:lnSpc>
                  <a:spcPts val="2120"/>
                </a:lnSpc>
              </a:pPr>
            </a:p>
          </p:txBody>
        </p:sp>
      </p:grpSp>
      <p:grpSp>
        <p:nvGrpSpPr>
          <p:cNvPr name="Group 31" id="31"/>
          <p:cNvGrpSpPr/>
          <p:nvPr/>
        </p:nvGrpSpPr>
        <p:grpSpPr>
          <a:xfrm rot="0">
            <a:off x="14173200" y="2756663"/>
            <a:ext cx="138677" cy="138677"/>
            <a:chOff x="0" y="0"/>
            <a:chExt cx="812800" cy="812800"/>
          </a:xfrm>
        </p:grpSpPr>
        <p:sp>
          <p:nvSpPr>
            <p:cNvPr name="Freeform 32" id="3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B2C30"/>
            </a:solidFill>
          </p:spPr>
        </p:sp>
        <p:sp>
          <p:nvSpPr>
            <p:cNvPr name="TextBox 33" id="33"/>
            <p:cNvSpPr txBox="true"/>
            <p:nvPr/>
          </p:nvSpPr>
          <p:spPr>
            <a:xfrm>
              <a:off x="76200" y="85725"/>
              <a:ext cx="660400" cy="650875"/>
            </a:xfrm>
            <a:prstGeom prst="rect">
              <a:avLst/>
            </a:prstGeom>
          </p:spPr>
          <p:txBody>
            <a:bodyPr anchor="ctr" rtlCol="false" tIns="50800" lIns="50800" bIns="50800" rIns="50800"/>
            <a:lstStyle/>
            <a:p>
              <a:pPr algn="ctr">
                <a:lnSpc>
                  <a:spcPts val="2120"/>
                </a:lnSpc>
              </a:pPr>
            </a:p>
          </p:txBody>
        </p:sp>
      </p:grpSp>
      <p:sp>
        <p:nvSpPr>
          <p:cNvPr name="AutoShape 34" id="34"/>
          <p:cNvSpPr/>
          <p:nvPr/>
        </p:nvSpPr>
        <p:spPr>
          <a:xfrm>
            <a:off x="1127760" y="2821239"/>
            <a:ext cx="17396401" cy="0"/>
          </a:xfrm>
          <a:prstGeom prst="line">
            <a:avLst/>
          </a:prstGeom>
          <a:ln cap="flat" w="9525">
            <a:solidFill>
              <a:srgbClr val="2B2C30"/>
            </a:solidFill>
            <a:prstDash val="solid"/>
            <a:headEnd type="none" len="sm" w="sm"/>
            <a:tailEnd type="none" len="sm" w="sm"/>
          </a:ln>
        </p:spPr>
      </p:sp>
      <p:sp>
        <p:nvSpPr>
          <p:cNvPr name="TextBox 35" id="35"/>
          <p:cNvSpPr txBox="true"/>
          <p:nvPr/>
        </p:nvSpPr>
        <p:spPr>
          <a:xfrm rot="0">
            <a:off x="12698616" y="8984615"/>
            <a:ext cx="4560684" cy="273685"/>
          </a:xfrm>
          <a:prstGeom prst="rect">
            <a:avLst/>
          </a:prstGeom>
        </p:spPr>
        <p:txBody>
          <a:bodyPr anchor="t" rtlCol="false" tIns="0" lIns="0" bIns="0" rIns="0">
            <a:spAutoFit/>
          </a:bodyPr>
          <a:lstStyle/>
          <a:p>
            <a:pPr algn="r">
              <a:lnSpc>
                <a:spcPts val="2239"/>
              </a:lnSpc>
            </a:pPr>
            <a:r>
              <a:rPr lang="en-US" sz="1599">
                <a:solidFill>
                  <a:srgbClr val="331B0D"/>
                </a:solidFill>
                <a:latin typeface="Open Sauce"/>
                <a:ea typeface="Open Sauce"/>
                <a:cs typeface="Open Sauce"/>
                <a:sym typeface="Open Sauce"/>
              </a:rPr>
              <a:t>21</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EFEEE7"/>
        </a:solidFill>
      </p:bgPr>
    </p:bg>
    <p:spTree>
      <p:nvGrpSpPr>
        <p:cNvPr id="1" name=""/>
        <p:cNvGrpSpPr/>
        <p:nvPr/>
      </p:nvGrpSpPr>
      <p:grpSpPr>
        <a:xfrm>
          <a:off x="0" y="0"/>
          <a:ext cx="0" cy="0"/>
          <a:chOff x="0" y="0"/>
          <a:chExt cx="0" cy="0"/>
        </a:xfrm>
      </p:grpSpPr>
      <p:sp>
        <p:nvSpPr>
          <p:cNvPr name="AutoShape 2" id="2"/>
          <p:cNvSpPr/>
          <p:nvPr/>
        </p:nvSpPr>
        <p:spPr>
          <a:xfrm flipV="true">
            <a:off x="1028706" y="4514765"/>
            <a:ext cx="16230594" cy="38509"/>
          </a:xfrm>
          <a:prstGeom prst="line">
            <a:avLst/>
          </a:prstGeom>
          <a:ln cap="flat" w="9525">
            <a:solidFill>
              <a:srgbClr val="2B2C30"/>
            </a:solidFill>
            <a:prstDash val="solid"/>
            <a:headEnd type="none" len="sm" w="sm"/>
            <a:tailEnd type="none" len="sm" w="sm"/>
          </a:ln>
        </p:spPr>
      </p:sp>
      <p:sp>
        <p:nvSpPr>
          <p:cNvPr name="Freeform 3" id="3"/>
          <p:cNvSpPr/>
          <p:nvPr/>
        </p:nvSpPr>
        <p:spPr>
          <a:xfrm flipH="false" flipV="false" rot="0">
            <a:off x="1028706" y="5826086"/>
            <a:ext cx="3432214" cy="3432214"/>
          </a:xfrm>
          <a:custGeom>
            <a:avLst/>
            <a:gdLst/>
            <a:ahLst/>
            <a:cxnLst/>
            <a:rect r="r" b="b" t="t" l="l"/>
            <a:pathLst>
              <a:path h="3432214" w="3432214">
                <a:moveTo>
                  <a:pt x="0" y="0"/>
                </a:moveTo>
                <a:lnTo>
                  <a:pt x="3432215" y="0"/>
                </a:lnTo>
                <a:lnTo>
                  <a:pt x="3432215" y="3432214"/>
                </a:lnTo>
                <a:lnTo>
                  <a:pt x="0" y="3432214"/>
                </a:lnTo>
                <a:lnTo>
                  <a:pt x="0" y="0"/>
                </a:lnTo>
                <a:close/>
              </a:path>
            </a:pathLst>
          </a:custGeom>
          <a:blipFill>
            <a:blip r:embed="rId2"/>
            <a:stretch>
              <a:fillRect l="0" t="0" r="0" b="0"/>
            </a:stretch>
          </a:blipFill>
        </p:spPr>
      </p:sp>
      <p:sp>
        <p:nvSpPr>
          <p:cNvPr name="TextBox 4" id="4"/>
          <p:cNvSpPr txBox="true"/>
          <p:nvPr/>
        </p:nvSpPr>
        <p:spPr>
          <a:xfrm rot="0">
            <a:off x="1006882" y="4728792"/>
            <a:ext cx="16230600" cy="651099"/>
          </a:xfrm>
          <a:prstGeom prst="rect">
            <a:avLst/>
          </a:prstGeom>
        </p:spPr>
        <p:txBody>
          <a:bodyPr anchor="t" rtlCol="false" tIns="0" lIns="0" bIns="0" rIns="0">
            <a:spAutoFit/>
          </a:bodyPr>
          <a:lstStyle/>
          <a:p>
            <a:pPr algn="l">
              <a:lnSpc>
                <a:spcPts val="5200"/>
              </a:lnSpc>
              <a:spcBef>
                <a:spcPct val="0"/>
              </a:spcBef>
            </a:pPr>
            <a:r>
              <a:rPr lang="en-US" b="true" sz="3714" spc="843">
                <a:solidFill>
                  <a:srgbClr val="2B2C30"/>
                </a:solidFill>
                <a:latin typeface="Public Sans Bold"/>
                <a:ea typeface="Public Sans Bold"/>
                <a:cs typeface="Public Sans Bold"/>
                <a:sym typeface="Public Sans Bold"/>
              </a:rPr>
              <a:t>REACH OUT TO ME ON LINKEDIN</a:t>
            </a:r>
          </a:p>
        </p:txBody>
      </p:sp>
      <p:sp>
        <p:nvSpPr>
          <p:cNvPr name="TextBox 5" id="5"/>
          <p:cNvSpPr txBox="true"/>
          <p:nvPr/>
        </p:nvSpPr>
        <p:spPr>
          <a:xfrm rot="0">
            <a:off x="850974" y="2332416"/>
            <a:ext cx="16408332" cy="2084083"/>
          </a:xfrm>
          <a:prstGeom prst="rect">
            <a:avLst/>
          </a:prstGeom>
        </p:spPr>
        <p:txBody>
          <a:bodyPr anchor="t" rtlCol="false" tIns="0" lIns="0" bIns="0" rIns="0">
            <a:spAutoFit/>
          </a:bodyPr>
          <a:lstStyle/>
          <a:p>
            <a:pPr algn="l">
              <a:lnSpc>
                <a:spcPts val="15250"/>
              </a:lnSpc>
            </a:pPr>
            <a:r>
              <a:rPr lang="en-US" sz="16758" spc="83">
                <a:solidFill>
                  <a:srgbClr val="2B2C30"/>
                </a:solidFill>
                <a:latin typeface="Playfair Display"/>
                <a:ea typeface="Playfair Display"/>
                <a:cs typeface="Playfair Display"/>
                <a:sym typeface="Playfair Display"/>
              </a:rPr>
              <a:t>Thank you!</a:t>
            </a:r>
          </a:p>
        </p:txBody>
      </p:sp>
      <p:sp>
        <p:nvSpPr>
          <p:cNvPr name="TextBox 6" id="6"/>
          <p:cNvSpPr txBox="true"/>
          <p:nvPr/>
        </p:nvSpPr>
        <p:spPr>
          <a:xfrm rot="0">
            <a:off x="12698616" y="8984615"/>
            <a:ext cx="4560684" cy="273685"/>
          </a:xfrm>
          <a:prstGeom prst="rect">
            <a:avLst/>
          </a:prstGeom>
        </p:spPr>
        <p:txBody>
          <a:bodyPr anchor="t" rtlCol="false" tIns="0" lIns="0" bIns="0" rIns="0">
            <a:spAutoFit/>
          </a:bodyPr>
          <a:lstStyle/>
          <a:p>
            <a:pPr algn="r">
              <a:lnSpc>
                <a:spcPts val="2239"/>
              </a:lnSpc>
            </a:pPr>
            <a:r>
              <a:rPr lang="en-US" sz="1599">
                <a:solidFill>
                  <a:srgbClr val="331B0D"/>
                </a:solidFill>
                <a:latin typeface="Open Sauce"/>
                <a:ea typeface="Open Sauce"/>
                <a:cs typeface="Open Sauce"/>
                <a:sym typeface="Open Sauce"/>
              </a:rPr>
              <a:t>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DAHHJbt6a1A</dc:identifier>
  <dcterms:modified xsi:type="dcterms:W3CDTF">2011-08-01T06:04:30Z</dcterms:modified>
  <cp:revision>1</cp:revision>
  <dc:title>CS394 Presentation</dc:title>
</cp:coreProperties>
</file>